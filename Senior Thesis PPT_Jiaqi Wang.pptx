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6" r:id="rId11"/>
    <p:sldId id="267" r:id="rId12"/>
    <p:sldId id="271" r:id="rId13"/>
    <p:sldId id="268" r:id="rId14"/>
    <p:sldId id="275" r:id="rId15"/>
    <p:sldId id="269" r:id="rId16"/>
    <p:sldId id="272" r:id="rId17"/>
    <p:sldId id="273" r:id="rId18"/>
    <p:sldId id="274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9FBD"/>
    <a:srgbClr val="E56897"/>
    <a:srgbClr val="767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64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16A3C-50B6-450F-B933-40153A1B315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F3F15-AC56-4D32-8F9E-4C9FA4CEF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971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3F15-AC56-4D32-8F9E-4C9FA4CEFF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31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3F15-AC56-4D32-8F9E-4C9FA4CEFF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908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3F15-AC56-4D32-8F9E-4C9FA4CEFF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202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F075D-9868-6732-2CA7-63E86967F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4FC6F1-C6E2-DB00-41D5-BC9745720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194D94-D9FF-C0E0-EA10-86F697A9E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81519-6F02-D5CF-F6D2-E7AB91D2F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3F15-AC56-4D32-8F9E-4C9FA4CEFF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78F70-7DD5-A916-3A59-40EC8EAD5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3BE5F5-4BE8-0782-145A-745B8DF19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F05A62-443E-582E-1A3D-2072A567A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623250-FE98-FE61-3680-5B3036565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3F15-AC56-4D32-8F9E-4C9FA4CEFF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094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45990-1F63-3BFA-B5E1-BE6EF7951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DAA2C4-8B5A-5C5C-3105-115BB74D9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9456A5-BF12-7873-23FA-D2E69623B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ECF28A-A04A-CD09-8A66-0A9ACDB22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3F15-AC56-4D32-8F9E-4C9FA4CEFF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594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E1E43-1361-A0D9-084D-C12340D6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EAEF14-EDCC-ECA9-59AF-979556153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FBE8B8-F44A-32E7-756C-9311B95F8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CBC19-7E7B-8B97-DA8E-C11F12654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3F15-AC56-4D32-8F9E-4C9FA4CEFF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87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839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17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266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337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331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39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735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841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372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219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3711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106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8295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329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232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143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6E2F2-F556-44E9-85AC-FAB14273A33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BC8E93-7FCC-421C-A1C8-7FAA091FB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1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image" Target="../media/image5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4.png"/><Relationship Id="rId5" Type="http://schemas.openxmlformats.org/officeDocument/2006/relationships/tags" Target="../tags/tag8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7.xml"/><Relationship Id="rId9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2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C07D8-A085-D9BA-7974-7BDC67BE3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626" y="2404531"/>
            <a:ext cx="10917343" cy="1646302"/>
          </a:xfrm>
        </p:spPr>
        <p:txBody>
          <a:bodyPr/>
          <a:lstStyle/>
          <a:p>
            <a:pPr algn="ctr"/>
            <a:r>
              <a:rPr lang="en-US" altLang="zh-CN" dirty="0"/>
              <a:t>A comparative Study of Dijkstra’s Algorithm and the Graph p-</a:t>
            </a:r>
            <a:r>
              <a:rPr lang="en-US" altLang="zh-CN" dirty="0" err="1"/>
              <a:t>eikonal</a:t>
            </a:r>
            <a:r>
              <a:rPr lang="en-US" altLang="zh-CN" dirty="0"/>
              <a:t> Method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42AAEB-03BC-AB5E-1CA5-B757CE42E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9312" y="4539104"/>
            <a:ext cx="7766936" cy="2064896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Jiaqi Wang; N16367706; CO2026</a:t>
            </a:r>
          </a:p>
          <a:p>
            <a:pPr algn="ctr"/>
            <a:r>
              <a:rPr lang="en-US" altLang="zh-CN" dirty="0"/>
              <a:t>Mentor: Hong-Bin Chen</a:t>
            </a:r>
          </a:p>
          <a:p>
            <a:pPr algn="ctr"/>
            <a:r>
              <a:rPr lang="en-US" altLang="zh-CN" dirty="0"/>
              <a:t>New York University Shanghai</a:t>
            </a:r>
          </a:p>
          <a:p>
            <a:pPr algn="ctr"/>
            <a:r>
              <a:rPr lang="en-US" altLang="zh-CN" dirty="0"/>
              <a:t>April 29, 2026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2937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6FF9C-C7E0-49A2-8076-DE49F40D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My research</a:t>
            </a:r>
            <a:endParaRPr lang="zh-CN" altLang="en-US" sz="3200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D6DBD79D-7249-3A20-2809-7D64DDE723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734840">
            <a:off x="6808777" y="1264069"/>
            <a:ext cx="4329862" cy="4329862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1A32364C-FF3B-6569-D8AB-0376E5D9B32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734840">
            <a:off x="5999293" y="2661069"/>
            <a:ext cx="4329862" cy="4329862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8FA5872A-77C6-0A39-7D8A-104A1CB5649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734840">
            <a:off x="7773977" y="2661069"/>
            <a:ext cx="4329862" cy="4329862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BD232A5B-019A-9448-AF4C-052A4A51D324}"/>
              </a:ext>
            </a:extLst>
          </p:cNvPr>
          <p:cNvSpPr txBox="1">
            <a:spLocks/>
          </p:cNvSpPr>
          <p:nvPr/>
        </p:nvSpPr>
        <p:spPr>
          <a:xfrm>
            <a:off x="8164224" y="3841935"/>
            <a:ext cx="207752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My </a:t>
            </a:r>
          </a:p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research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F231BC9-DE66-2CA0-04DD-F620547D56DF}"/>
              </a:ext>
            </a:extLst>
          </p:cNvPr>
          <p:cNvSpPr txBox="1">
            <a:spLocks/>
          </p:cNvSpPr>
          <p:nvPr/>
        </p:nvSpPr>
        <p:spPr>
          <a:xfrm>
            <a:off x="7678793" y="2174967"/>
            <a:ext cx="2866415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Analysis  of PDE</a:t>
            </a:r>
          </a:p>
          <a:p>
            <a:pPr algn="ctr"/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AEBC051-AF72-A673-BB64-A42DB1CFB837}"/>
              </a:ext>
            </a:extLst>
          </p:cNvPr>
          <p:cNvSpPr txBox="1">
            <a:spLocks/>
          </p:cNvSpPr>
          <p:nvPr/>
        </p:nvSpPr>
        <p:spPr>
          <a:xfrm>
            <a:off x="9504459" y="4268787"/>
            <a:ext cx="2866415" cy="178789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Data </a:t>
            </a:r>
          </a:p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Science/</a:t>
            </a:r>
          </a:p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Machine </a:t>
            </a:r>
          </a:p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Learning</a:t>
            </a:r>
          </a:p>
          <a:p>
            <a:pPr algn="ctr"/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8DFD967-B768-ACFE-63E9-E5137407E836}"/>
              </a:ext>
            </a:extLst>
          </p:cNvPr>
          <p:cNvSpPr txBox="1">
            <a:spLocks/>
          </p:cNvSpPr>
          <p:nvPr/>
        </p:nvSpPr>
        <p:spPr>
          <a:xfrm>
            <a:off x="5873867" y="4586288"/>
            <a:ext cx="2866415" cy="17878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Shortest</a:t>
            </a:r>
          </a:p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Paths</a:t>
            </a:r>
          </a:p>
          <a:p>
            <a:pPr algn="ctr"/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30DD8-BBCD-7B19-7C49-444F7B8EF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20" y="1724681"/>
            <a:ext cx="6572959" cy="1787896"/>
          </a:xfrm>
        </p:spPr>
        <p:txBody>
          <a:bodyPr>
            <a:normAutofit/>
          </a:bodyPr>
          <a:lstStyle/>
          <a:p>
            <a:r>
              <a:rPr lang="en-US" altLang="zh-CN" b="1" dirty="0"/>
              <a:t>Research focus</a:t>
            </a:r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en-US" altLang="zh-CN" dirty="0"/>
              <a:t>Study a mathematically defined graph propagation model </a:t>
            </a:r>
          </a:p>
          <a:p>
            <a:pPr>
              <a:buFont typeface="+mj-lt"/>
              <a:buAutoNum type="arabicPeriod"/>
            </a:pPr>
            <a:r>
              <a:rPr lang="en-US" altLang="zh-CN" dirty="0"/>
              <a:t>Evaluate how p affects path behavior in practice </a:t>
            </a:r>
          </a:p>
          <a:p>
            <a:pPr>
              <a:buFont typeface="+mj-lt"/>
              <a:buAutoNum type="arabicPeriod"/>
            </a:pPr>
            <a:r>
              <a:rPr lang="en-US" altLang="zh-CN" dirty="0"/>
              <a:t>Compare fidelity, robustness, and parameter sensitivity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C85D9952-28A9-6EAB-C65D-28B370098179}"/>
              </a:ext>
            </a:extLst>
          </p:cNvPr>
          <p:cNvSpPr txBox="1">
            <a:spLocks/>
          </p:cNvSpPr>
          <p:nvPr/>
        </p:nvSpPr>
        <p:spPr>
          <a:xfrm>
            <a:off x="264459" y="3856366"/>
            <a:ext cx="5920377" cy="178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Main contribution</a:t>
            </a:r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en-US" altLang="zh-CN" dirty="0"/>
              <a:t>Build an experimental evaluation framework </a:t>
            </a:r>
          </a:p>
          <a:p>
            <a:pPr>
              <a:buFont typeface="+mj-lt"/>
              <a:buAutoNum type="arabicPeriod"/>
            </a:pPr>
            <a:r>
              <a:rPr lang="en-US" altLang="zh-CN" dirty="0"/>
              <a:t>Show how graph p-</a:t>
            </a:r>
            <a:r>
              <a:rPr lang="en-US" altLang="zh-CN" dirty="0" err="1"/>
              <a:t>eikonal</a:t>
            </a:r>
            <a:r>
              <a:rPr lang="en-US" altLang="zh-CN" dirty="0"/>
              <a:t> methods differ from Dijkstra’s algorithm under clean and noisy settings</a:t>
            </a:r>
          </a:p>
        </p:txBody>
      </p:sp>
    </p:spTree>
    <p:extLst>
      <p:ext uri="{BB962C8B-B14F-4D97-AF65-F5344CB8AC3E}">
        <p14:creationId xmlns:p14="http://schemas.microsoft.com/office/powerpoint/2010/main" val="18118714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289A9-A502-5059-0CF1-E5C2850A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80" y="502024"/>
            <a:ext cx="9886676" cy="13208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Motivation: Path behavior under noise settings</a:t>
            </a:r>
            <a:endParaRPr lang="zh-CN" altLang="en-US" sz="3200" dirty="0"/>
          </a:p>
        </p:txBody>
      </p:sp>
      <p:sp>
        <p:nvSpPr>
          <p:cNvPr id="21" name="Body-1">
            <a:extLst>
              <a:ext uri="{FF2B5EF4-FFF2-40B4-BE49-F238E27FC236}">
                <a16:creationId xmlns:a16="http://schemas.microsoft.com/office/drawing/2014/main" id="{416C228F-9ABF-4BB2-BD09-2769FD36EA9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82248" y="2936680"/>
            <a:ext cx="7096467" cy="6181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08000" tIns="108000" rIns="108000" bIns="10800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765">
              <a:lnSpc>
                <a:spcPct val="130000"/>
              </a:lnSpc>
              <a:buSzPct val="100000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Dijkstra’s algorithm gives clear shortest paths, </a:t>
            </a:r>
          </a:p>
          <a:p>
            <a:pPr defTabSz="913765">
              <a:lnSpc>
                <a:spcPct val="130000"/>
              </a:lnSpc>
              <a:buSzPct val="100000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but the paths may not be </a:t>
            </a:r>
            <a:r>
              <a:rPr lang="en-US" altLang="zh-CN" dirty="0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robust under noise settings.</a:t>
            </a:r>
            <a:endParaRPr kumimoji="0" lang="en-GB" altLang="zh-CN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8A4816A-20A7-FFF9-2D01-9E30B70BAC2E}"/>
              </a:ext>
            </a:extLst>
          </p:cNvPr>
          <p:cNvGrpSpPr/>
          <p:nvPr/>
        </p:nvGrpSpPr>
        <p:grpSpPr>
          <a:xfrm>
            <a:off x="156740" y="1459012"/>
            <a:ext cx="7202849" cy="5035253"/>
            <a:chOff x="307660" y="1343602"/>
            <a:chExt cx="8352989" cy="5035253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7CEF02C-546A-58C2-2155-8729E2BD1E48}"/>
                </a:ext>
              </a:extLst>
            </p:cNvPr>
            <p:cNvGrpSpPr>
              <a:grpSpLocks noChangeAspect="1"/>
            </p:cNvGrpSpPr>
            <p:nvPr>
              <p:custDataLst>
                <p:tags r:id="rId4"/>
              </p:custDataLst>
            </p:nvPr>
          </p:nvGrpSpPr>
          <p:grpSpPr>
            <a:xfrm>
              <a:off x="319596" y="1343602"/>
              <a:ext cx="8341053" cy="3691575"/>
              <a:chOff x="910364" y="1343603"/>
              <a:chExt cx="5129298" cy="4170795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A70ED4D9-56B9-F026-DF7E-15872622D55C}"/>
                  </a:ext>
                </a:extLst>
              </p:cNvPr>
              <p:cNvGrpSpPr/>
              <p:nvPr/>
            </p:nvGrpSpPr>
            <p:grpSpPr>
              <a:xfrm>
                <a:off x="910364" y="1343603"/>
                <a:ext cx="5129298" cy="1224000"/>
                <a:chOff x="645969" y="1251241"/>
                <a:chExt cx="5129298" cy="1224000"/>
              </a:xfrm>
            </p:grpSpPr>
            <p:sp>
              <p:nvSpPr>
                <p:cNvPr id="17" name="1">
                  <a:extLst>
                    <a:ext uri="{FF2B5EF4-FFF2-40B4-BE49-F238E27FC236}">
                      <a16:creationId xmlns:a16="http://schemas.microsoft.com/office/drawing/2014/main" id="{EBB5F7E9-1DA8-6757-D1CD-97C386F7F0E6}"/>
                    </a:ext>
                  </a:extLst>
                </p:cNvPr>
                <p:cNvSpPr/>
                <p:nvPr/>
              </p:nvSpPr>
              <p:spPr>
                <a:xfrm>
                  <a:off x="908629" y="1251241"/>
                  <a:ext cx="4866638" cy="1224000"/>
                </a:xfrm>
                <a:prstGeom prst="roundRect">
                  <a:avLst>
                    <a:gd name="adj" fmla="val 9100"/>
                  </a:avLst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242640" tIns="45720" rIns="174240" bIns="45720" rtlCol="0" anchor="ctr"/>
                <a:lstStyle/>
                <a:p>
                  <a:pPr>
                    <a:lnSpc>
                      <a:spcPct val="130000"/>
                    </a:lnSpc>
                  </a:pPr>
                  <a:endParaRPr kumimoji="1" lang="en-US" altLang="zh-CN" sz="1200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Index-1">
                  <a:extLst>
                    <a:ext uri="{FF2B5EF4-FFF2-40B4-BE49-F238E27FC236}">
                      <a16:creationId xmlns:a16="http://schemas.microsoft.com/office/drawing/2014/main" id="{C811A080-C5C4-D09C-4247-9EC744700B48}"/>
                    </a:ext>
                  </a:extLst>
                </p:cNvPr>
                <p:cNvSpPr txBox="1">
                  <a:spLocks noChangeAspect="1"/>
                </p:cNvSpPr>
                <p:nvPr>
                  <p:custDataLst>
                    <p:tags r:id="rId8"/>
                  </p:custDataLst>
                </p:nvPr>
              </p:nvSpPr>
              <p:spPr>
                <a:xfrm>
                  <a:off x="645969" y="1616787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12700" cap="flat">
                  <a:noFill/>
                  <a:prstDash val="solid"/>
                  <a:miter/>
                </a:ln>
                <a:effectLst>
                  <a:outerShdw blurRad="127000" dist="63500" dir="2700000" algn="tl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wrap="none" rtlCol="0" anchor="ctr"/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FFFFF"/>
                      </a:solidFill>
                      <a:latin typeface="Arial" panose="020B0604020202020204" pitchFamily="34" charset="0"/>
                      <a:ea typeface="Microsoft YaHei" panose="020B0503020204020204" pitchFamily="34" charset="-122"/>
                    </a:defRPr>
                  </a:lvl1pPr>
                </a:lstStyle>
                <a:p>
                  <a:r>
                    <a:rPr lang="en-US" altLang="zh-CN" sz="1600" dirty="0">
                      <a:latin typeface="+mn-lt"/>
                      <a:ea typeface="+mn-ea"/>
                      <a:cs typeface="+mn-ea"/>
                      <a:sym typeface="+mn-lt"/>
                    </a:rPr>
                    <a:t>01</a:t>
                  </a:r>
                  <a:endParaRPr lang="zh-CN" altLang="en-US" sz="1600" dirty="0"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Body-1">
                  <a:extLst>
                    <a:ext uri="{FF2B5EF4-FFF2-40B4-BE49-F238E27FC236}">
                      <a16:creationId xmlns:a16="http://schemas.microsoft.com/office/drawing/2014/main" id="{E9BA084D-C187-2685-AB96-03B6D9416D45}"/>
                    </a:ext>
                  </a:extLst>
                </p:cNvPr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298645" y="1371901"/>
                  <a:ext cx="4363945" cy="698404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lIns="108000" tIns="108000" rIns="108000" bIns="108000" rtlCol="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3765">
                    <a:lnSpc>
                      <a:spcPct val="130000"/>
                    </a:lnSpc>
                    <a:buSzPct val="100000"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62626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+mn-cs"/>
                    </a:rPr>
                    <a:t>Shortest path distances are widely applied in data science and machine learning.</a:t>
                  </a:r>
                  <a:endParaRPr kumimoji="0" lang="en-GB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2626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F2A6FB5A-EE06-8AE3-7494-B34105E9D4BF}"/>
                  </a:ext>
                </a:extLst>
              </p:cNvPr>
              <p:cNvGrpSpPr/>
              <p:nvPr/>
            </p:nvGrpSpPr>
            <p:grpSpPr>
              <a:xfrm>
                <a:off x="910364" y="2817000"/>
                <a:ext cx="5129298" cy="1224000"/>
                <a:chOff x="645969" y="2724638"/>
                <a:chExt cx="5129298" cy="1224000"/>
              </a:xfrm>
            </p:grpSpPr>
            <p:sp>
              <p:nvSpPr>
                <p:cNvPr id="13" name="2">
                  <a:extLst>
                    <a:ext uri="{FF2B5EF4-FFF2-40B4-BE49-F238E27FC236}">
                      <a16:creationId xmlns:a16="http://schemas.microsoft.com/office/drawing/2014/main" id="{7A89116D-A65E-930C-0DDE-32DD1DF8997B}"/>
                    </a:ext>
                  </a:extLst>
                </p:cNvPr>
                <p:cNvSpPr/>
                <p:nvPr/>
              </p:nvSpPr>
              <p:spPr>
                <a:xfrm>
                  <a:off x="908629" y="2724638"/>
                  <a:ext cx="4866638" cy="1224000"/>
                </a:xfrm>
                <a:prstGeom prst="roundRect">
                  <a:avLst>
                    <a:gd name="adj" fmla="val 9100"/>
                  </a:avLst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30000"/>
                    </a:lnSpc>
                  </a:pPr>
                  <a:endParaRPr kumimoji="1" lang="en-US" altLang="zh-CN" sz="1200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Index-2">
                  <a:extLst>
                    <a:ext uri="{FF2B5EF4-FFF2-40B4-BE49-F238E27FC236}">
                      <a16:creationId xmlns:a16="http://schemas.microsoft.com/office/drawing/2014/main" id="{13D500B4-A944-D989-B1BA-F01AE87DE486}"/>
                    </a:ext>
                  </a:extLst>
                </p:cNvPr>
                <p:cNvSpPr txBox="1">
                  <a:spLocks noChangeAspect="1"/>
                </p:cNvSpPr>
                <p:nvPr>
                  <p:custDataLst>
                    <p:tags r:id="rId7"/>
                  </p:custDataLst>
                </p:nvPr>
              </p:nvSpPr>
              <p:spPr>
                <a:xfrm>
                  <a:off x="645969" y="3018744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 w="12700" cap="flat">
                  <a:noFill/>
                  <a:prstDash val="solid"/>
                  <a:miter/>
                </a:ln>
                <a:effectLst>
                  <a:outerShdw blurRad="127000" dist="63500" dir="2700000" algn="tl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wrap="none" rtlCol="0" anchor="ctr"/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FFFFF"/>
                      </a:solidFill>
                      <a:latin typeface="Arial" panose="020B0604020202020204" pitchFamily="34" charset="0"/>
                      <a:ea typeface="Microsoft YaHei" panose="020B0503020204020204" pitchFamily="34" charset="-122"/>
                    </a:defRPr>
                  </a:lvl1pPr>
                </a:lstStyle>
                <a:p>
                  <a:r>
                    <a:rPr lang="en-US" altLang="zh-CN" sz="1600" dirty="0">
                      <a:latin typeface="+mn-lt"/>
                      <a:ea typeface="+mn-ea"/>
                      <a:cs typeface="+mn-ea"/>
                      <a:sym typeface="+mn-lt"/>
                    </a:rPr>
                    <a:t>02</a:t>
                  </a:r>
                  <a:endParaRPr lang="zh-CN" altLang="en-US" sz="1600" dirty="0"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B4E50A31-29B7-CC2E-12DC-4C3AE211404E}"/>
                  </a:ext>
                </a:extLst>
              </p:cNvPr>
              <p:cNvGrpSpPr/>
              <p:nvPr/>
            </p:nvGrpSpPr>
            <p:grpSpPr>
              <a:xfrm>
                <a:off x="910364" y="4290398"/>
                <a:ext cx="5129298" cy="1224000"/>
                <a:chOff x="645969" y="4198036"/>
                <a:chExt cx="5129298" cy="1224000"/>
              </a:xfrm>
            </p:grpSpPr>
            <p:sp>
              <p:nvSpPr>
                <p:cNvPr id="9" name="3">
                  <a:extLst>
                    <a:ext uri="{FF2B5EF4-FFF2-40B4-BE49-F238E27FC236}">
                      <a16:creationId xmlns:a16="http://schemas.microsoft.com/office/drawing/2014/main" id="{5C5FCB4D-4B49-DAC6-1CEE-C66A851B2375}"/>
                    </a:ext>
                  </a:extLst>
                </p:cNvPr>
                <p:cNvSpPr/>
                <p:nvPr/>
              </p:nvSpPr>
              <p:spPr>
                <a:xfrm>
                  <a:off x="908629" y="4198036"/>
                  <a:ext cx="4866638" cy="1224000"/>
                </a:xfrm>
                <a:prstGeom prst="roundRect">
                  <a:avLst>
                    <a:gd name="adj" fmla="val 9100"/>
                  </a:avLst>
                </a:prstGeom>
                <a:noFill/>
                <a:ln>
                  <a:solidFill>
                    <a:srgbClr val="E99F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30000"/>
                    </a:lnSpc>
                  </a:pPr>
                  <a:endParaRPr kumimoji="1" lang="en-US" altLang="zh-CN" sz="1200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Index-3">
                  <a:extLst>
                    <a:ext uri="{FF2B5EF4-FFF2-40B4-BE49-F238E27FC236}">
                      <a16:creationId xmlns:a16="http://schemas.microsoft.com/office/drawing/2014/main" id="{CAABF03D-BD89-8ACA-DF62-C291E7433073}"/>
                    </a:ext>
                  </a:extLst>
                </p:cNvPr>
                <p:cNvSpPr txBox="1">
                  <a:spLocks noChangeAspect="1"/>
                </p:cNvSpPr>
                <p:nvPr>
                  <p:custDataLst>
                    <p:tags r:id="rId6"/>
                  </p:custDataLst>
                </p:nvPr>
              </p:nvSpPr>
              <p:spPr>
                <a:xfrm>
                  <a:off x="645969" y="449214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99FBD"/>
                </a:solidFill>
                <a:ln w="12700" cap="flat">
                  <a:solidFill>
                    <a:srgbClr val="E99FBD"/>
                  </a:solidFill>
                  <a:prstDash val="solid"/>
                  <a:miter/>
                </a:ln>
                <a:effectLst>
                  <a:outerShdw blurRad="127000" dist="63500" dir="2700000" algn="tl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wrap="none" rtlCol="0" anchor="ctr"/>
                <a:lstStyle>
                  <a:defPPr>
                    <a:defRPr lang="zh-CN"/>
                  </a:defPPr>
                  <a:lvl1pPr algn="ctr">
                    <a:defRPr b="1">
                      <a:solidFill>
                        <a:srgbClr val="FFFFFF"/>
                      </a:solidFill>
                      <a:latin typeface="Arial" panose="020B0604020202020204" pitchFamily="34" charset="0"/>
                      <a:ea typeface="Microsoft YaHei" panose="020B0503020204020204" pitchFamily="34" charset="-122"/>
                    </a:defRPr>
                  </a:lvl1pPr>
                </a:lstStyle>
                <a:p>
                  <a:r>
                    <a:rPr lang="en-US" altLang="zh-CN" sz="1600" dirty="0">
                      <a:latin typeface="+mn-lt"/>
                      <a:ea typeface="+mn-ea"/>
                      <a:cs typeface="+mn-ea"/>
                      <a:sym typeface="+mn-lt"/>
                    </a:rPr>
                    <a:t>03</a:t>
                  </a:r>
                  <a:endParaRPr lang="zh-CN" altLang="en-US" sz="1600" dirty="0"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2" name="Index-3">
              <a:extLst>
                <a:ext uri="{FF2B5EF4-FFF2-40B4-BE49-F238E27FC236}">
                  <a16:creationId xmlns:a16="http://schemas.microsoft.com/office/drawing/2014/main" id="{DD94CE1D-9042-D07B-E10B-767759E8541C}"/>
                </a:ext>
              </a:extLst>
            </p:cNvPr>
            <p:cNvSpPr txBox="1"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307660" y="5598195"/>
              <a:ext cx="878126" cy="47795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</a:lstStyle>
            <a:p>
              <a:r>
                <a:rPr lang="en-US" altLang="zh-CN" sz="1600" dirty="0"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zh-CN" altLang="en-US" sz="16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3">
              <a:extLst>
                <a:ext uri="{FF2B5EF4-FFF2-40B4-BE49-F238E27FC236}">
                  <a16:creationId xmlns:a16="http://schemas.microsoft.com/office/drawing/2014/main" id="{F25D1C9F-A1A6-7AA5-7195-016958155A7C}"/>
                </a:ext>
              </a:extLst>
            </p:cNvPr>
            <p:cNvSpPr/>
            <p:nvPr/>
          </p:nvSpPr>
          <p:spPr>
            <a:xfrm>
              <a:off x="746723" y="5295491"/>
              <a:ext cx="7913926" cy="1083364"/>
            </a:xfrm>
            <a:prstGeom prst="roundRect">
              <a:avLst>
                <a:gd name="adj" fmla="val 91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endParaRPr kumimoji="1" lang="en-US" altLang="zh-CN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4" name="Body-1">
            <a:extLst>
              <a:ext uri="{FF2B5EF4-FFF2-40B4-BE49-F238E27FC236}">
                <a16:creationId xmlns:a16="http://schemas.microsoft.com/office/drawing/2014/main" id="{741EABE2-4715-FD91-49BB-2153459BF02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82248" y="4240785"/>
            <a:ext cx="7096467" cy="6181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08000" tIns="108000" rIns="108000" bIns="10800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765">
              <a:lnSpc>
                <a:spcPct val="130000"/>
              </a:lnSpc>
              <a:buSzPct val="100000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Graph p-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eikonal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method is theoretically more robust</a:t>
            </a:r>
          </a:p>
          <a:p>
            <a:pPr defTabSz="913765">
              <a:lnSpc>
                <a:spcPct val="130000"/>
              </a:lnSpc>
              <a:buSzPct val="100000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that Dijkstra’s algorithm under noise settings.</a:t>
            </a:r>
            <a:endParaRPr kumimoji="0" lang="en-GB" altLang="zh-CN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5" name="Body-1">
            <a:extLst>
              <a:ext uri="{FF2B5EF4-FFF2-40B4-BE49-F238E27FC236}">
                <a16:creationId xmlns:a16="http://schemas.microsoft.com/office/drawing/2014/main" id="{508F8565-738F-33E8-772D-B227C4CEC98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82247" y="5573402"/>
            <a:ext cx="7096467" cy="6181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08000" tIns="108000" rIns="108000" bIns="10800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765">
              <a:lnSpc>
                <a:spcPct val="130000"/>
              </a:lnSpc>
              <a:buSzPct val="100000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Is this robustness reflected in practice? How does p</a:t>
            </a:r>
          </a:p>
          <a:p>
            <a:pPr defTabSz="913765">
              <a:lnSpc>
                <a:spcPct val="130000"/>
              </a:lnSpc>
              <a:buSzPct val="100000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reflect graph p-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eikonal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method’s path behavior?</a:t>
            </a:r>
            <a:endParaRPr kumimoji="0" lang="en-GB" altLang="zh-CN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B02C3D08-D73A-9148-A406-C208EC17A8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095" y="4067223"/>
            <a:ext cx="3532256" cy="252304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93CA6307-71A6-7F35-27D6-AB8ECB42F2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0206" y="1261488"/>
            <a:ext cx="3226145" cy="230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24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E1F74-69CC-AC04-0310-53CF993A6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30669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Goal: Path behavior comparison among Dijkstra’s algorithm, and different p-</a:t>
            </a:r>
            <a:r>
              <a:rPr lang="en-US" altLang="zh-CN" sz="3200" dirty="0" err="1"/>
              <a:t>eikonal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73D044-DA38-D4B6-02A2-70D5F29C2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134EF9-CC97-BA4C-42D8-68F6329A5F1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8485" y="1614282"/>
            <a:ext cx="10729911" cy="4973386"/>
            <a:chOff x="788989" y="1207163"/>
            <a:chExt cx="10729911" cy="4973386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18CFFCB-FF8A-AF58-FEC8-7A317B160F9B}"/>
                </a:ext>
              </a:extLst>
            </p:cNvPr>
            <p:cNvGrpSpPr/>
            <p:nvPr/>
          </p:nvGrpSpPr>
          <p:grpSpPr>
            <a:xfrm>
              <a:off x="788989" y="4057487"/>
              <a:ext cx="10729911" cy="2123062"/>
              <a:chOff x="788989" y="4057487"/>
              <a:chExt cx="10729911" cy="2123062"/>
            </a:xfrm>
          </p:grpSpPr>
          <p:sp>
            <p:nvSpPr>
              <p:cNvPr id="21" name="3">
                <a:extLst>
                  <a:ext uri="{FF2B5EF4-FFF2-40B4-BE49-F238E27FC236}">
                    <a16:creationId xmlns:a16="http://schemas.microsoft.com/office/drawing/2014/main" id="{514AD468-D27C-75A6-AA4C-B4E29D049055}"/>
                  </a:ext>
                </a:extLst>
              </p:cNvPr>
              <p:cNvSpPr/>
              <p:nvPr/>
            </p:nvSpPr>
            <p:spPr>
              <a:xfrm>
                <a:off x="1537853" y="4057487"/>
                <a:ext cx="3807832" cy="727668"/>
              </a:xfrm>
              <a:custGeom>
                <a:avLst/>
                <a:gdLst>
                  <a:gd name="connsiteX0" fmla="*/ 1073753 w 2147506"/>
                  <a:gd name="connsiteY0" fmla="*/ 0 h 348043"/>
                  <a:gd name="connsiteX1" fmla="*/ 0 w 2147506"/>
                  <a:gd name="connsiteY1" fmla="*/ 174022 h 348043"/>
                  <a:gd name="connsiteX2" fmla="*/ 1073753 w 2147506"/>
                  <a:gd name="connsiteY2" fmla="*/ 348044 h 348043"/>
                  <a:gd name="connsiteX3" fmla="*/ 2147507 w 2147506"/>
                  <a:gd name="connsiteY3" fmla="*/ 174022 h 348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06" h="348043">
                    <a:moveTo>
                      <a:pt x="1073753" y="0"/>
                    </a:moveTo>
                    <a:lnTo>
                      <a:pt x="0" y="174022"/>
                    </a:lnTo>
                    <a:lnTo>
                      <a:pt x="1073753" y="348044"/>
                    </a:lnTo>
                    <a:lnTo>
                      <a:pt x="2147507" y="174022"/>
                    </a:lnTo>
                    <a:close/>
                  </a:path>
                </a:pathLst>
              </a:custGeom>
              <a:gradFill flip="none" rotWithShape="1">
                <a:gsLst>
                  <a:gs pos="86000">
                    <a:schemeClr val="accent1">
                      <a:lumMod val="75000"/>
                    </a:schemeClr>
                  </a:gs>
                  <a:gs pos="0">
                    <a:schemeClr val="accent1">
                      <a:lumMod val="5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innerShdw blurRad="419100">
                  <a:srgbClr val="FFFFFF">
                    <a:alpha val="60000"/>
                  </a:srgbClr>
                </a:innerShdw>
              </a:effectLst>
            </p:spPr>
            <p:txBody>
              <a:bodyPr rtlCol="0" anchor="ctr">
                <a:noAutofit/>
              </a:bodyPr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3">
                <a:extLst>
                  <a:ext uri="{FF2B5EF4-FFF2-40B4-BE49-F238E27FC236}">
                    <a16:creationId xmlns:a16="http://schemas.microsoft.com/office/drawing/2014/main" id="{5C9A3C2F-0B27-E2E2-6ECD-44A16FC9EBDE}"/>
                  </a:ext>
                </a:extLst>
              </p:cNvPr>
              <p:cNvSpPr/>
              <p:nvPr/>
            </p:nvSpPr>
            <p:spPr>
              <a:xfrm>
                <a:off x="5420171" y="4315158"/>
                <a:ext cx="6098729" cy="1380429"/>
              </a:xfrm>
              <a:custGeom>
                <a:avLst/>
                <a:gdLst>
                  <a:gd name="connsiteX0" fmla="*/ 0 w 6098729"/>
                  <a:gd name="connsiteY0" fmla="*/ 0 h 1380429"/>
                  <a:gd name="connsiteX1" fmla="*/ 6098729 w 6098729"/>
                  <a:gd name="connsiteY1" fmla="*/ 0 h 1380429"/>
                  <a:gd name="connsiteX2" fmla="*/ 6098729 w 6098729"/>
                  <a:gd name="connsiteY2" fmla="*/ 1380429 h 1380429"/>
                  <a:gd name="connsiteX3" fmla="*/ 817800 w 6098729"/>
                  <a:gd name="connsiteY3" fmla="*/ 1380429 h 1380429"/>
                  <a:gd name="connsiteX4" fmla="*/ 0 w 6098729"/>
                  <a:gd name="connsiteY4" fmla="*/ 0 h 1380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98729" h="1380429">
                    <a:moveTo>
                      <a:pt x="0" y="0"/>
                    </a:moveTo>
                    <a:lnTo>
                      <a:pt x="6098729" y="0"/>
                    </a:lnTo>
                    <a:lnTo>
                      <a:pt x="6098729" y="1380429"/>
                    </a:lnTo>
                    <a:lnTo>
                      <a:pt x="817800" y="138042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40000"/>
                      <a:lumOff val="60000"/>
                      <a:alpha val="37000"/>
                    </a:schemeClr>
                  </a:gs>
                  <a:gs pos="100000">
                    <a:srgbClr val="136EE9">
                      <a:alpha val="0"/>
                      <a:lumMod val="30000"/>
                      <a:lumOff val="70000"/>
                    </a:srgbClr>
                  </a:gs>
                </a:gsLst>
                <a:lin ang="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23" name="3">
                <a:extLst>
                  <a:ext uri="{FF2B5EF4-FFF2-40B4-BE49-F238E27FC236}">
                    <a16:creationId xmlns:a16="http://schemas.microsoft.com/office/drawing/2014/main" id="{9DF390EB-B230-5BCF-7F2E-202490CD7666}"/>
                  </a:ext>
                </a:extLst>
              </p:cNvPr>
              <p:cNvSpPr/>
              <p:nvPr/>
            </p:nvSpPr>
            <p:spPr>
              <a:xfrm>
                <a:off x="788989" y="4421320"/>
                <a:ext cx="2652781" cy="1759229"/>
              </a:xfrm>
              <a:custGeom>
                <a:avLst/>
                <a:gdLst>
                  <a:gd name="connsiteX0" fmla="*/ 1496092 w 1496091"/>
                  <a:gd name="connsiteY0" fmla="*/ 841438 h 841438"/>
                  <a:gd name="connsiteX1" fmla="*/ 1496092 w 1496091"/>
                  <a:gd name="connsiteY1" fmla="*/ 174022 h 841438"/>
                  <a:gd name="connsiteX2" fmla="*/ 422434 w 1496091"/>
                  <a:gd name="connsiteY2" fmla="*/ 0 h 841438"/>
                  <a:gd name="connsiteX3" fmla="*/ 0 w 1496091"/>
                  <a:gd name="connsiteY3" fmla="*/ 599027 h 841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6091" h="841438">
                    <a:moveTo>
                      <a:pt x="1496092" y="841438"/>
                    </a:moveTo>
                    <a:lnTo>
                      <a:pt x="1496092" y="174022"/>
                    </a:lnTo>
                    <a:lnTo>
                      <a:pt x="422434" y="0"/>
                    </a:lnTo>
                    <a:lnTo>
                      <a:pt x="0" y="599027"/>
                    </a:lnTo>
                    <a:close/>
                  </a:path>
                </a:pathLst>
              </a:custGeom>
              <a:gradFill flip="none" rotWithShape="1">
                <a:gsLst>
                  <a:gs pos="86000">
                    <a:schemeClr val="accent1"/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innerShdw blurRad="254000">
                  <a:srgbClr val="FFFFFF">
                    <a:alpha val="40000"/>
                  </a:srgbClr>
                </a:innerShdw>
              </a:effectLst>
            </p:spPr>
            <p:txBody>
              <a:bodyPr rtlCol="0" anchor="ctr">
                <a:noAutofit/>
              </a:bodyPr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3">
                <a:extLst>
                  <a:ext uri="{FF2B5EF4-FFF2-40B4-BE49-F238E27FC236}">
                    <a16:creationId xmlns:a16="http://schemas.microsoft.com/office/drawing/2014/main" id="{872B59C9-C642-0F6C-6411-0E23D73455A6}"/>
                  </a:ext>
                </a:extLst>
              </p:cNvPr>
              <p:cNvSpPr/>
              <p:nvPr/>
            </p:nvSpPr>
            <p:spPr>
              <a:xfrm>
                <a:off x="3441772" y="4421320"/>
                <a:ext cx="2652781" cy="1759229"/>
              </a:xfrm>
              <a:custGeom>
                <a:avLst/>
                <a:gdLst>
                  <a:gd name="connsiteX0" fmla="*/ 0 w 1496091"/>
                  <a:gd name="connsiteY0" fmla="*/ 174022 h 841438"/>
                  <a:gd name="connsiteX1" fmla="*/ 0 w 1496091"/>
                  <a:gd name="connsiteY1" fmla="*/ 841438 h 841438"/>
                  <a:gd name="connsiteX2" fmla="*/ 1496092 w 1496091"/>
                  <a:gd name="connsiteY2" fmla="*/ 599027 h 841438"/>
                  <a:gd name="connsiteX3" fmla="*/ 1073753 w 1496091"/>
                  <a:gd name="connsiteY3" fmla="*/ 0 h 841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6091" h="841438">
                    <a:moveTo>
                      <a:pt x="0" y="174022"/>
                    </a:moveTo>
                    <a:lnTo>
                      <a:pt x="0" y="841438"/>
                    </a:lnTo>
                    <a:lnTo>
                      <a:pt x="1496092" y="599027"/>
                    </a:lnTo>
                    <a:lnTo>
                      <a:pt x="1073753" y="0"/>
                    </a:lnTo>
                    <a:close/>
                  </a:path>
                </a:pathLst>
              </a:custGeom>
              <a:gradFill flip="none" rotWithShape="1">
                <a:gsLst>
                  <a:gs pos="86000">
                    <a:schemeClr val="accent1"/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innerShdw blurRad="254000">
                  <a:srgbClr val="FFFFFF">
                    <a:alpha val="40000"/>
                  </a:srgbClr>
                </a:innerShdw>
              </a:effectLst>
            </p:spPr>
            <p:txBody>
              <a:bodyPr rtlCol="0" anchor="ctr">
                <a:noAutofit/>
              </a:bodyPr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5" name="Title-3">
                <a:extLst>
                  <a:ext uri="{FF2B5EF4-FFF2-40B4-BE49-F238E27FC236}">
                    <a16:creationId xmlns:a16="http://schemas.microsoft.com/office/drawing/2014/main" id="{D952F171-A8E7-840C-35A7-EAF360B15587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281328" y="4524595"/>
                <a:ext cx="4698339" cy="36933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 algn="ctr">
                  <a:defRPr sz="1400" b="1">
                    <a:gradFill>
                      <a:gsLst>
                        <a:gs pos="1000">
                          <a:schemeClr val="accent1">
                            <a:lumMod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lin ang="2700000" scaled="0"/>
                    </a:gradFill>
                  </a:defRPr>
                </a:lvl1pPr>
              </a:lstStyle>
              <a:p>
                <a:pPr algn="l">
                  <a:defRPr/>
                </a:pPr>
                <a:r>
                  <a:rPr lang="en-US" altLang="zh-CN" sz="1800" dirty="0">
                    <a:gradFill>
                      <a:gsLst>
                        <a:gs pos="1000">
                          <a:schemeClr val="accent1"/>
                        </a:gs>
                        <a:gs pos="100000">
                          <a:schemeClr val="accent1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Is there a usable rule for selecting p?</a:t>
                </a:r>
                <a:endParaRPr lang="zh-CN" altLang="en-US" sz="1800" dirty="0">
                  <a:gradFill>
                    <a:gsLst>
                      <a:gs pos="100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0"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27" name="Index-3">
                <a:extLst>
                  <a:ext uri="{FF2B5EF4-FFF2-40B4-BE49-F238E27FC236}">
                    <a16:creationId xmlns:a16="http://schemas.microsoft.com/office/drawing/2014/main" id="{0781BBA4-07C8-145C-0E07-08ABE17CCDA8}"/>
                  </a:ext>
                </a:extLst>
              </p:cNvPr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4158814" y="4894723"/>
                <a:ext cx="906780" cy="669297"/>
              </a:xfrm>
              <a:prstGeom prst="rect">
                <a:avLst/>
              </a:prstGeom>
              <a:noFill/>
              <a:ln w="15875">
                <a:noFill/>
              </a:ln>
              <a:scene3d>
                <a:camera prst="isometricRightUp">
                  <a:rot lat="600000" lon="20400000" rev="480000"/>
                </a:camera>
                <a:lightRig rig="threePt" dir="t"/>
              </a:scene3d>
            </p:spPr>
            <p:txBody>
              <a:bodyPr wrap="square" lIns="36000" tIns="36000" rIns="36000" bIns="36000" rtlCol="0" anchor="ctr">
                <a:noAutofit/>
              </a:bodyPr>
              <a:lstStyle/>
              <a:p>
                <a:pPr algn="ctr" hangingPunct="0">
                  <a:lnSpc>
                    <a:spcPct val="120000"/>
                  </a:lnSpc>
                </a:pPr>
                <a:r>
                  <a:rPr lang="en-US" sz="4400" b="1" spc="120" dirty="0">
                    <a:solidFill>
                      <a:schemeClr val="bg1"/>
                    </a:solidFill>
                    <a:latin typeface="+mj-ea"/>
                    <a:ea typeface="+mj-ea"/>
                  </a:rPr>
                  <a:t>03</a:t>
                </a:r>
                <a:endParaRPr lang="en-EG" sz="4400" b="1" spc="12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2074C6-20AC-5298-95F1-1A6980DE97F8}"/>
                </a:ext>
              </a:extLst>
            </p:cNvPr>
            <p:cNvGrpSpPr/>
            <p:nvPr/>
          </p:nvGrpSpPr>
          <p:grpSpPr>
            <a:xfrm>
              <a:off x="1600610" y="2742273"/>
              <a:ext cx="9918290" cy="1912127"/>
              <a:chOff x="1600610" y="2742273"/>
              <a:chExt cx="9918290" cy="1912127"/>
            </a:xfrm>
          </p:grpSpPr>
          <p:sp>
            <p:nvSpPr>
              <p:cNvPr id="14" name="2">
                <a:extLst>
                  <a:ext uri="{FF2B5EF4-FFF2-40B4-BE49-F238E27FC236}">
                    <a16:creationId xmlns:a16="http://schemas.microsoft.com/office/drawing/2014/main" id="{6CD6957C-5A0B-1E9C-0F6A-5D8D5BC994C4}"/>
                  </a:ext>
                </a:extLst>
              </p:cNvPr>
              <p:cNvSpPr/>
              <p:nvPr/>
            </p:nvSpPr>
            <p:spPr>
              <a:xfrm>
                <a:off x="4534822" y="2820709"/>
                <a:ext cx="6984078" cy="1382141"/>
              </a:xfrm>
              <a:custGeom>
                <a:avLst/>
                <a:gdLst>
                  <a:gd name="connsiteX0" fmla="*/ 0 w 6984078"/>
                  <a:gd name="connsiteY0" fmla="*/ 0 h 1382141"/>
                  <a:gd name="connsiteX1" fmla="*/ 6984078 w 6984078"/>
                  <a:gd name="connsiteY1" fmla="*/ 0 h 1382141"/>
                  <a:gd name="connsiteX2" fmla="*/ 6984078 w 6984078"/>
                  <a:gd name="connsiteY2" fmla="*/ 1382141 h 1382141"/>
                  <a:gd name="connsiteX3" fmla="*/ 818815 w 6984078"/>
                  <a:gd name="connsiteY3" fmla="*/ 1382141 h 1382141"/>
                  <a:gd name="connsiteX4" fmla="*/ 0 w 6984078"/>
                  <a:gd name="connsiteY4" fmla="*/ 0 h 1382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84078" h="1382141">
                    <a:moveTo>
                      <a:pt x="0" y="0"/>
                    </a:moveTo>
                    <a:lnTo>
                      <a:pt x="6984078" y="0"/>
                    </a:lnTo>
                    <a:lnTo>
                      <a:pt x="6984078" y="1382141"/>
                    </a:lnTo>
                    <a:lnTo>
                      <a:pt x="818815" y="138214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0"/>
                    </a:schemeClr>
                  </a:gs>
                </a:gsLst>
                <a:lin ang="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15" name="2">
                <a:extLst>
                  <a:ext uri="{FF2B5EF4-FFF2-40B4-BE49-F238E27FC236}">
                    <a16:creationId xmlns:a16="http://schemas.microsoft.com/office/drawing/2014/main" id="{A0491CDD-F5AA-9568-5CEE-298052C9915D}"/>
                  </a:ext>
                </a:extLst>
              </p:cNvPr>
              <p:cNvSpPr/>
              <p:nvPr/>
            </p:nvSpPr>
            <p:spPr>
              <a:xfrm>
                <a:off x="2416409" y="2742273"/>
                <a:ext cx="2050722" cy="391798"/>
              </a:xfrm>
              <a:custGeom>
                <a:avLst/>
                <a:gdLst>
                  <a:gd name="connsiteX0" fmla="*/ 530828 w 1061656"/>
                  <a:gd name="connsiteY0" fmla="*/ 0 h 172021"/>
                  <a:gd name="connsiteX1" fmla="*/ 0 w 1061656"/>
                  <a:gd name="connsiteY1" fmla="*/ 86011 h 172021"/>
                  <a:gd name="connsiteX2" fmla="*/ 530828 w 1061656"/>
                  <a:gd name="connsiteY2" fmla="*/ 172021 h 172021"/>
                  <a:gd name="connsiteX3" fmla="*/ 1061656 w 1061656"/>
                  <a:gd name="connsiteY3" fmla="*/ 86011 h 172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1656" h="172021">
                    <a:moveTo>
                      <a:pt x="530828" y="0"/>
                    </a:moveTo>
                    <a:lnTo>
                      <a:pt x="0" y="86011"/>
                    </a:lnTo>
                    <a:lnTo>
                      <a:pt x="530828" y="172021"/>
                    </a:lnTo>
                    <a:lnTo>
                      <a:pt x="1061656" y="86011"/>
                    </a:lnTo>
                    <a:close/>
                  </a:path>
                </a:pathLst>
              </a:custGeom>
              <a:gradFill flip="none" rotWithShape="1">
                <a:gsLst>
                  <a:gs pos="86000">
                    <a:schemeClr val="accent2">
                      <a:lumMod val="75000"/>
                    </a:schemeClr>
                  </a:gs>
                  <a:gs pos="0">
                    <a:schemeClr val="accent2">
                      <a:lumMod val="5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innerShdw blurRad="419100">
                  <a:srgbClr val="FFFFFF">
                    <a:alpha val="60000"/>
                  </a:srgbClr>
                </a:innerShdw>
              </a:effectLst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16" name="2">
                <a:extLst>
                  <a:ext uri="{FF2B5EF4-FFF2-40B4-BE49-F238E27FC236}">
                    <a16:creationId xmlns:a16="http://schemas.microsoft.com/office/drawing/2014/main" id="{FC4789FB-8C57-E690-3EFD-E401BBA8AD8D}"/>
                  </a:ext>
                </a:extLst>
              </p:cNvPr>
              <p:cNvSpPr/>
              <p:nvPr/>
            </p:nvSpPr>
            <p:spPr>
              <a:xfrm>
                <a:off x="1600610" y="2938170"/>
                <a:ext cx="1841159" cy="1716230"/>
              </a:xfrm>
              <a:custGeom>
                <a:avLst/>
                <a:gdLst>
                  <a:gd name="connsiteX0" fmla="*/ 953167 w 953166"/>
                  <a:gd name="connsiteY0" fmla="*/ 753523 h 753522"/>
                  <a:gd name="connsiteX1" fmla="*/ 953167 w 953166"/>
                  <a:gd name="connsiteY1" fmla="*/ 86011 h 753522"/>
                  <a:gd name="connsiteX2" fmla="*/ 422434 w 953166"/>
                  <a:gd name="connsiteY2" fmla="*/ 0 h 753522"/>
                  <a:gd name="connsiteX3" fmla="*/ 0 w 953166"/>
                  <a:gd name="connsiteY3" fmla="*/ 599027 h 753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3166" h="753522">
                    <a:moveTo>
                      <a:pt x="953167" y="753523"/>
                    </a:moveTo>
                    <a:lnTo>
                      <a:pt x="953167" y="86011"/>
                    </a:lnTo>
                    <a:lnTo>
                      <a:pt x="422434" y="0"/>
                    </a:lnTo>
                    <a:lnTo>
                      <a:pt x="0" y="599027"/>
                    </a:lnTo>
                    <a:close/>
                  </a:path>
                </a:pathLst>
              </a:custGeom>
              <a:gradFill flip="none" rotWithShape="1">
                <a:gsLst>
                  <a:gs pos="86000">
                    <a:schemeClr val="accent2"/>
                  </a:gs>
                  <a:gs pos="0">
                    <a:schemeClr val="accent2">
                      <a:lumMod val="60000"/>
                      <a:lumOff val="4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innerShdw blurRad="254000">
                  <a:srgbClr val="FFFFFF">
                    <a:alpha val="40000"/>
                  </a:srgbClr>
                </a:innerShdw>
              </a:effectLst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17" name="2">
                <a:extLst>
                  <a:ext uri="{FF2B5EF4-FFF2-40B4-BE49-F238E27FC236}">
                    <a16:creationId xmlns:a16="http://schemas.microsoft.com/office/drawing/2014/main" id="{EB0EF33A-FF54-27F8-10F5-B83ACAE0A1C5}"/>
                  </a:ext>
                </a:extLst>
              </p:cNvPr>
              <p:cNvSpPr/>
              <p:nvPr/>
            </p:nvSpPr>
            <p:spPr>
              <a:xfrm>
                <a:off x="3441774" y="2938170"/>
                <a:ext cx="1841159" cy="1716230"/>
              </a:xfrm>
              <a:custGeom>
                <a:avLst/>
                <a:gdLst>
                  <a:gd name="connsiteX0" fmla="*/ 0 w 953166"/>
                  <a:gd name="connsiteY0" fmla="*/ 86011 h 753522"/>
                  <a:gd name="connsiteX1" fmla="*/ 0 w 953166"/>
                  <a:gd name="connsiteY1" fmla="*/ 753523 h 753522"/>
                  <a:gd name="connsiteX2" fmla="*/ 953167 w 953166"/>
                  <a:gd name="connsiteY2" fmla="*/ 599027 h 753522"/>
                  <a:gd name="connsiteX3" fmla="*/ 530828 w 953166"/>
                  <a:gd name="connsiteY3" fmla="*/ 0 h 753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3166" h="753522">
                    <a:moveTo>
                      <a:pt x="0" y="86011"/>
                    </a:moveTo>
                    <a:lnTo>
                      <a:pt x="0" y="753523"/>
                    </a:lnTo>
                    <a:lnTo>
                      <a:pt x="953167" y="599027"/>
                    </a:lnTo>
                    <a:lnTo>
                      <a:pt x="530828" y="0"/>
                    </a:lnTo>
                    <a:close/>
                  </a:path>
                </a:pathLst>
              </a:custGeom>
              <a:gradFill flip="none" rotWithShape="1">
                <a:gsLst>
                  <a:gs pos="86000">
                    <a:schemeClr val="accent2"/>
                  </a:gs>
                  <a:gs pos="0">
                    <a:schemeClr val="accent2">
                      <a:lumMod val="60000"/>
                      <a:lumOff val="4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innerShdw blurRad="254000">
                  <a:srgbClr val="FFFFFF">
                    <a:alpha val="40000"/>
                  </a:srgbClr>
                </a:innerShdw>
              </a:effectLst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18" name="Title-2">
                <a:extLst>
                  <a:ext uri="{FF2B5EF4-FFF2-40B4-BE49-F238E27FC236}">
                    <a16:creationId xmlns:a16="http://schemas.microsoft.com/office/drawing/2014/main" id="{9769875F-408F-D150-DE33-4185CABA5EE1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344947" y="3031002"/>
                <a:ext cx="5634721" cy="36933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 algn="ctr">
                  <a:defRPr sz="1400" b="1">
                    <a:gradFill>
                      <a:gsLst>
                        <a:gs pos="1000">
                          <a:schemeClr val="accent1">
                            <a:lumMod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lin ang="2700000" scaled="0"/>
                    </a:gradFill>
                  </a:defRPr>
                </a:lvl1pPr>
              </a:lstStyle>
              <a:p>
                <a:pPr algn="l">
                  <a:defRPr/>
                </a:pPr>
                <a:r>
                  <a:rPr lang="en-US" altLang="zh-CN" sz="1800" dirty="0">
                    <a:gradFill>
                      <a:gsLst>
                        <a:gs pos="1000">
                          <a:schemeClr val="accent2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How</a:t>
                </a:r>
                <a:r>
                  <a:rPr lang="zh-CN" altLang="en-US" sz="1800" dirty="0">
                    <a:gradFill>
                      <a:gsLst>
                        <a:gs pos="1000">
                          <a:schemeClr val="accent2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 </a:t>
                </a:r>
                <a:r>
                  <a:rPr lang="en-US" altLang="zh-CN" sz="1800" dirty="0">
                    <a:gradFill>
                      <a:gsLst>
                        <a:gs pos="1000">
                          <a:schemeClr val="accent2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does</a:t>
                </a:r>
                <a:r>
                  <a:rPr lang="zh-CN" altLang="en-US" sz="1800" dirty="0">
                    <a:gradFill>
                      <a:gsLst>
                        <a:gs pos="1000">
                          <a:schemeClr val="accent2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 </a:t>
                </a:r>
                <a:r>
                  <a:rPr lang="en-US" altLang="zh-CN" sz="1800" dirty="0">
                    <a:gradFill>
                      <a:gsLst>
                        <a:gs pos="1000">
                          <a:schemeClr val="accent2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p</a:t>
                </a:r>
                <a:r>
                  <a:rPr lang="zh-CN" altLang="en-US" sz="1800" dirty="0">
                    <a:gradFill>
                      <a:gsLst>
                        <a:gs pos="1000">
                          <a:schemeClr val="accent2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 </a:t>
                </a:r>
                <a:r>
                  <a:rPr lang="en-US" altLang="zh-CN" sz="1800" dirty="0">
                    <a:gradFill>
                      <a:gsLst>
                        <a:gs pos="1000">
                          <a:schemeClr val="accent2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affect</a:t>
                </a:r>
                <a:r>
                  <a:rPr lang="zh-CN" altLang="en-US" sz="1800" dirty="0">
                    <a:gradFill>
                      <a:gsLst>
                        <a:gs pos="1000">
                          <a:schemeClr val="accent2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 </a:t>
                </a:r>
                <a:r>
                  <a:rPr lang="en-US" altLang="zh-CN" sz="1800" dirty="0">
                    <a:gradFill>
                      <a:gsLst>
                        <a:gs pos="1000">
                          <a:schemeClr val="accent2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robustness?</a:t>
                </a:r>
                <a:endParaRPr lang="zh-CN" altLang="en-US" sz="1800" dirty="0">
                  <a:gradFill>
                    <a:gsLst>
                      <a:gs pos="1000">
                        <a:schemeClr val="accent2"/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700000" scaled="0"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19" name="Body-2">
                <a:extLst>
                  <a:ext uri="{FF2B5EF4-FFF2-40B4-BE49-F238E27FC236}">
                    <a16:creationId xmlns:a16="http://schemas.microsoft.com/office/drawing/2014/main" id="{28113749-A376-CA7C-C084-2BCE17F5E84A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359144" y="3405473"/>
                <a:ext cx="5620525" cy="58708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altLang="zh-CN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ea"/>
                    <a:ea typeface="+mj-ea"/>
                  </a:rPr>
                  <a:t>Robustness refers to whether paths produced for a fixed p remains stable under different levels of weighted noise.</a:t>
                </a:r>
                <a:endParaRPr lang="zh-CN" altLang="en-US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Index-2">
                <a:extLst>
                  <a:ext uri="{FF2B5EF4-FFF2-40B4-BE49-F238E27FC236}">
                    <a16:creationId xmlns:a16="http://schemas.microsoft.com/office/drawing/2014/main" id="{5FD46F99-EBF5-F80B-4B5A-37417697AB81}"/>
                  </a:ext>
                </a:extLst>
              </p:cNvPr>
              <p:cNvSpPr>
                <a:spLocks noChangeAspec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3705424" y="3466808"/>
                <a:ext cx="906780" cy="514243"/>
              </a:xfrm>
              <a:prstGeom prst="rect">
                <a:avLst/>
              </a:prstGeom>
              <a:noFill/>
              <a:ln w="15875">
                <a:noFill/>
              </a:ln>
              <a:scene3d>
                <a:camera prst="isometricRightUp">
                  <a:rot lat="600000" lon="20400000" rev="480000"/>
                </a:camera>
                <a:lightRig rig="threePt" dir="t"/>
              </a:scene3d>
            </p:spPr>
            <p:txBody>
              <a:bodyPr wrap="square" lIns="36000" tIns="36000" rIns="36000" bIns="36000" rtlCol="0" anchor="ctr">
                <a:noAutofit/>
              </a:bodyPr>
              <a:lstStyle/>
              <a:p>
                <a:pPr algn="ctr" hangingPunct="0">
                  <a:lnSpc>
                    <a:spcPct val="120000"/>
                  </a:lnSpc>
                </a:pPr>
                <a:r>
                  <a:rPr lang="en-US" sz="4000" b="1" spc="120" dirty="0">
                    <a:solidFill>
                      <a:schemeClr val="bg1"/>
                    </a:solidFill>
                    <a:latin typeface="+mj-ea"/>
                    <a:ea typeface="+mj-ea"/>
                  </a:rPr>
                  <a:t>02</a:t>
                </a:r>
                <a:endParaRPr lang="en-EG" sz="4000" b="1" spc="12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2BBC8D3-8D45-6772-F97E-C4A3B6EA16D5}"/>
                </a:ext>
              </a:extLst>
            </p:cNvPr>
            <p:cNvGrpSpPr/>
            <p:nvPr/>
          </p:nvGrpSpPr>
          <p:grpSpPr>
            <a:xfrm>
              <a:off x="2479100" y="1207163"/>
              <a:ext cx="9039800" cy="1793840"/>
              <a:chOff x="2479100" y="1207163"/>
              <a:chExt cx="9039800" cy="1793840"/>
            </a:xfrm>
          </p:grpSpPr>
          <p:sp>
            <p:nvSpPr>
              <p:cNvPr id="8" name="1">
                <a:extLst>
                  <a:ext uri="{FF2B5EF4-FFF2-40B4-BE49-F238E27FC236}">
                    <a16:creationId xmlns:a16="http://schemas.microsoft.com/office/drawing/2014/main" id="{D5135746-A653-5B4C-8BD9-80FC596E6697}"/>
                  </a:ext>
                </a:extLst>
              </p:cNvPr>
              <p:cNvSpPr/>
              <p:nvPr/>
            </p:nvSpPr>
            <p:spPr>
              <a:xfrm>
                <a:off x="3637284" y="1305685"/>
                <a:ext cx="7881616" cy="1402717"/>
              </a:xfrm>
              <a:custGeom>
                <a:avLst/>
                <a:gdLst>
                  <a:gd name="connsiteX0" fmla="*/ 0 w 7881616"/>
                  <a:gd name="connsiteY0" fmla="*/ 0 h 1402717"/>
                  <a:gd name="connsiteX1" fmla="*/ 7881616 w 7881616"/>
                  <a:gd name="connsiteY1" fmla="*/ 0 h 1402717"/>
                  <a:gd name="connsiteX2" fmla="*/ 7881616 w 7881616"/>
                  <a:gd name="connsiteY2" fmla="*/ 1402717 h 1402717"/>
                  <a:gd name="connsiteX3" fmla="*/ 831005 w 7881616"/>
                  <a:gd name="connsiteY3" fmla="*/ 1402717 h 1402717"/>
                  <a:gd name="connsiteX4" fmla="*/ 0 w 7881616"/>
                  <a:gd name="connsiteY4" fmla="*/ 0 h 1402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81616" h="1402717">
                    <a:moveTo>
                      <a:pt x="0" y="0"/>
                    </a:moveTo>
                    <a:lnTo>
                      <a:pt x="7881616" y="0"/>
                    </a:lnTo>
                    <a:lnTo>
                      <a:pt x="7881616" y="1402717"/>
                    </a:lnTo>
                    <a:lnTo>
                      <a:pt x="831005" y="140271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kern="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9" name="Title-1">
                <a:extLst>
                  <a:ext uri="{FF2B5EF4-FFF2-40B4-BE49-F238E27FC236}">
                    <a16:creationId xmlns:a16="http://schemas.microsoft.com/office/drawing/2014/main" id="{F0463D84-591F-70F5-1543-42F98EA9883A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4471755" y="1526266"/>
                <a:ext cx="6507915" cy="36933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 algn="ctr">
                  <a:defRPr sz="1400" b="1">
                    <a:gradFill>
                      <a:gsLst>
                        <a:gs pos="1000">
                          <a:schemeClr val="accent1">
                            <a:lumMod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lin ang="2700000" scaled="0"/>
                    </a:gradFill>
                  </a:defRPr>
                </a:lvl1pPr>
              </a:lstStyle>
              <a:p>
                <a:pPr algn="l">
                  <a:defRPr/>
                </a:pPr>
                <a:r>
                  <a:rPr lang="en-US" altLang="zh-CN" sz="1800" dirty="0">
                    <a:gradFill>
                      <a:gsLst>
                        <a:gs pos="1000">
                          <a:schemeClr val="accent1"/>
                        </a:gs>
                        <a:gs pos="100000">
                          <a:schemeClr val="accent1">
                            <a:lumMod val="75000"/>
                          </a:schemeClr>
                        </a:gs>
                      </a:gsLst>
                      <a:lin ang="2700000" scaled="0"/>
                    </a:gradFill>
                    <a:latin typeface="+mj-ea"/>
                    <a:ea typeface="+mj-ea"/>
                  </a:rPr>
                  <a:t>How does p affect fidelity?</a:t>
                </a:r>
                <a:endParaRPr lang="zh-CN" altLang="en-US" sz="1800" dirty="0">
                  <a:gradFill>
                    <a:gsLst>
                      <a:gs pos="100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0"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10" name="Body-1">
                <a:extLst>
                  <a:ext uri="{FF2B5EF4-FFF2-40B4-BE49-F238E27FC236}">
                    <a16:creationId xmlns:a16="http://schemas.microsoft.com/office/drawing/2014/main" id="{3FFDC83F-8DBE-24C6-4237-512DDC826835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488152" y="1900737"/>
                <a:ext cx="6853311" cy="58708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altLang="zh-CN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ea"/>
                    <a:ea typeface="+mj-ea"/>
                  </a:rPr>
                  <a:t>Fidelity is defined by the extent to which the paths produced by the p-</a:t>
                </a:r>
                <a:r>
                  <a:rPr lang="en-US" altLang="zh-CN" dirty="0" err="1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ea"/>
                    <a:ea typeface="+mj-ea"/>
                  </a:rPr>
                  <a:t>eikonal</a:t>
                </a:r>
                <a:r>
                  <a:rPr lang="en-US" altLang="zh-CN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ea"/>
                    <a:ea typeface="+mj-ea"/>
                  </a:rPr>
                  <a:t> method deviate from those reference paths in terms of cost.</a:t>
                </a:r>
                <a:endParaRPr lang="zh-CN" altLang="en-US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1" name="1">
                <a:extLst>
                  <a:ext uri="{FF2B5EF4-FFF2-40B4-BE49-F238E27FC236}">
                    <a16:creationId xmlns:a16="http://schemas.microsoft.com/office/drawing/2014/main" id="{175C9458-9E51-7BDB-7768-F3CB9D16AF85}"/>
                  </a:ext>
                </a:extLst>
              </p:cNvPr>
              <p:cNvSpPr/>
              <p:nvPr/>
            </p:nvSpPr>
            <p:spPr>
              <a:xfrm>
                <a:off x="2479100" y="1207163"/>
                <a:ext cx="962561" cy="1793840"/>
              </a:xfrm>
              <a:custGeom>
                <a:avLst/>
                <a:gdLst>
                  <a:gd name="connsiteX0" fmla="*/ 422338 w 422338"/>
                  <a:gd name="connsiteY0" fmla="*/ 667512 h 667512"/>
                  <a:gd name="connsiteX1" fmla="*/ 422338 w 422338"/>
                  <a:gd name="connsiteY1" fmla="*/ 0 h 667512"/>
                  <a:gd name="connsiteX2" fmla="*/ 0 w 422338"/>
                  <a:gd name="connsiteY2" fmla="*/ 599027 h 667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2338" h="667512">
                    <a:moveTo>
                      <a:pt x="422338" y="667512"/>
                    </a:moveTo>
                    <a:lnTo>
                      <a:pt x="422338" y="0"/>
                    </a:lnTo>
                    <a:lnTo>
                      <a:pt x="0" y="599027"/>
                    </a:lnTo>
                    <a:close/>
                  </a:path>
                </a:pathLst>
              </a:custGeom>
              <a:gradFill flip="none" rotWithShape="1">
                <a:gsLst>
                  <a:gs pos="86000">
                    <a:schemeClr val="accent1"/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innerShdw blurRad="254000">
                  <a:srgbClr val="FFFFFF">
                    <a:alpha val="40000"/>
                  </a:srgbClr>
                </a:innerShdw>
              </a:effectLst>
            </p:spPr>
            <p:txBody>
              <a:bodyPr rtlCol="0" anchor="ctr">
                <a:noAutofit/>
              </a:bodyPr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1">
                <a:extLst>
                  <a:ext uri="{FF2B5EF4-FFF2-40B4-BE49-F238E27FC236}">
                    <a16:creationId xmlns:a16="http://schemas.microsoft.com/office/drawing/2014/main" id="{07B1DDA3-EC59-E275-0FB6-C5D449FE3C94}"/>
                  </a:ext>
                </a:extLst>
              </p:cNvPr>
              <p:cNvSpPr/>
              <p:nvPr/>
            </p:nvSpPr>
            <p:spPr>
              <a:xfrm>
                <a:off x="3441663" y="1207163"/>
                <a:ext cx="962778" cy="1793840"/>
              </a:xfrm>
              <a:custGeom>
                <a:avLst/>
                <a:gdLst>
                  <a:gd name="connsiteX0" fmla="*/ 0 w 422433"/>
                  <a:gd name="connsiteY0" fmla="*/ 667512 h 667512"/>
                  <a:gd name="connsiteX1" fmla="*/ 422434 w 422433"/>
                  <a:gd name="connsiteY1" fmla="*/ 599027 h 667512"/>
                  <a:gd name="connsiteX2" fmla="*/ 0 w 422433"/>
                  <a:gd name="connsiteY2" fmla="*/ 0 h 667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2433" h="667512">
                    <a:moveTo>
                      <a:pt x="0" y="667512"/>
                    </a:moveTo>
                    <a:lnTo>
                      <a:pt x="422434" y="599027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86000">
                    <a:schemeClr val="accent1"/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innerShdw blurRad="254000">
                  <a:srgbClr val="FFFFFF">
                    <a:alpha val="40000"/>
                  </a:srgbClr>
                </a:innerShdw>
              </a:effectLst>
            </p:spPr>
            <p:txBody>
              <a:bodyPr rtlCol="0" anchor="ctr">
                <a:noAutofit/>
              </a:bodyPr>
              <a:lstStyle/>
              <a:p>
                <a:pPr algn="ctr"/>
                <a:endParaRPr lang="zh-CN" altLang="en-US" kern="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Index-1">
                <a:extLst>
                  <a:ext uri="{FF2B5EF4-FFF2-40B4-BE49-F238E27FC236}">
                    <a16:creationId xmlns:a16="http://schemas.microsoft.com/office/drawing/2014/main" id="{F28CCDDD-FEC9-C2A7-650F-C0DA903E4B93}"/>
                  </a:ext>
                </a:extLst>
              </p:cNvPr>
              <p:cNvSpPr>
                <a:spLocks noChangeAspec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357952" y="2147850"/>
                <a:ext cx="906780" cy="514243"/>
              </a:xfrm>
              <a:prstGeom prst="rect">
                <a:avLst/>
              </a:prstGeom>
              <a:noFill/>
              <a:ln w="15875">
                <a:noFill/>
              </a:ln>
              <a:scene3d>
                <a:camera prst="isometricRightUp">
                  <a:rot lat="600000" lon="20400000" rev="480000"/>
                </a:camera>
                <a:lightRig rig="threePt" dir="t"/>
              </a:scene3d>
            </p:spPr>
            <p:txBody>
              <a:bodyPr wrap="square" lIns="36000" tIns="36000" rIns="36000" bIns="36000" rtlCol="0" anchor="ctr">
                <a:noAutofit/>
              </a:bodyPr>
              <a:lstStyle/>
              <a:p>
                <a:pPr algn="ctr" hangingPunct="0">
                  <a:lnSpc>
                    <a:spcPct val="120000"/>
                  </a:lnSpc>
                </a:pPr>
                <a:r>
                  <a:rPr lang="en-US" sz="3200" b="1" spc="120" dirty="0">
                    <a:solidFill>
                      <a:schemeClr val="bg1"/>
                    </a:solidFill>
                    <a:latin typeface="+mj-ea"/>
                    <a:ea typeface="+mj-ea"/>
                  </a:rPr>
                  <a:t>01</a:t>
                </a:r>
                <a:endParaRPr lang="en-EG" sz="3200" b="1" spc="12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8" name="Body-2">
            <a:extLst>
              <a:ext uri="{FF2B5EF4-FFF2-40B4-BE49-F238E27FC236}">
                <a16:creationId xmlns:a16="http://schemas.microsoft.com/office/drawing/2014/main" id="{0B1C48B5-A6B3-C80E-D954-896B6718694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424049" y="5342948"/>
            <a:ext cx="5620525" cy="5870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What is the optimal p? Does there exist a practical 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Principle for choosing at least a range of p?</a:t>
            </a:r>
            <a:endParaRPr lang="zh-CN" altLang="en-US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44241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4154C-A4E9-7F2F-EE8D-31C7E052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Mathematical background 1:</a:t>
            </a:r>
            <a:br>
              <a:rPr lang="en-US" altLang="zh-CN" sz="3200" dirty="0"/>
            </a:br>
            <a:r>
              <a:rPr lang="en-US" altLang="zh-CN" sz="3200" dirty="0"/>
              <a:t>Definitions of graph</a:t>
            </a:r>
            <a:endParaRPr lang="zh-CN" altLang="en-US" sz="32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14C0ED7-BFA8-736C-73A1-8FF27291F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" r="-3257" b="54554"/>
          <a:stretch>
            <a:fillRect/>
          </a:stretch>
        </p:blipFill>
        <p:spPr>
          <a:xfrm>
            <a:off x="953996" y="2321316"/>
            <a:ext cx="4499034" cy="297021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E3BDBDD-967C-6AAF-8151-CB8FDDDC1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333" y="3257379"/>
            <a:ext cx="2893792" cy="66243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32C3AC0-38E3-A9D3-34EA-DE5D04C98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990" y="4495395"/>
            <a:ext cx="4311456" cy="46134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52EE37F9-E729-81CD-5876-C6B7D1B8ACF4}"/>
              </a:ext>
            </a:extLst>
          </p:cNvPr>
          <p:cNvSpPr txBox="1"/>
          <p:nvPr/>
        </p:nvSpPr>
        <p:spPr>
          <a:xfrm>
            <a:off x="5403990" y="2205990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w_ij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     , connection      , distance</a:t>
            </a:r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79F69A4-AF11-829C-1BBF-9B1C43DE6234}"/>
              </a:ext>
            </a:extLst>
          </p:cNvPr>
          <p:cNvCxnSpPr/>
          <p:nvPr/>
        </p:nvCxnSpPr>
        <p:spPr>
          <a:xfrm flipV="1">
            <a:off x="6096000" y="2223391"/>
            <a:ext cx="326571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E1B0F96-2CC7-CB26-9B1F-F28AFA90113A}"/>
              </a:ext>
            </a:extLst>
          </p:cNvPr>
          <p:cNvCxnSpPr/>
          <p:nvPr/>
        </p:nvCxnSpPr>
        <p:spPr>
          <a:xfrm flipV="1">
            <a:off x="7806709" y="2259636"/>
            <a:ext cx="326571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4FE149F-1EA8-3BFF-E7A6-0D0BDA537558}"/>
              </a:ext>
            </a:extLst>
          </p:cNvPr>
          <p:cNvCxnSpPr>
            <a:cxnSpLocks/>
          </p:cNvCxnSpPr>
          <p:nvPr/>
        </p:nvCxnSpPr>
        <p:spPr>
          <a:xfrm>
            <a:off x="9284979" y="2199187"/>
            <a:ext cx="392374" cy="328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AD608D-D07F-7AB0-4E17-C9F653682B30}"/>
              </a:ext>
            </a:extLst>
          </p:cNvPr>
          <p:cNvSpPr txBox="1">
            <a:spLocks/>
          </p:cNvSpPr>
          <p:nvPr/>
        </p:nvSpPr>
        <p:spPr>
          <a:xfrm>
            <a:off x="5205744" y="1767578"/>
            <a:ext cx="4471609" cy="627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Weight of edge </a:t>
            </a:r>
            <a:r>
              <a:rPr lang="en-US" altLang="zh-CN" dirty="0" err="1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v_i</a:t>
            </a:r>
            <a:r>
              <a:rPr lang="en-US" altLang="zh-CN" dirty="0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and </a:t>
            </a:r>
            <a:r>
              <a:rPr lang="en-US" altLang="zh-CN" dirty="0" err="1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v_j</a:t>
            </a:r>
            <a:r>
              <a:rPr lang="en-US" altLang="zh-CN" dirty="0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90FFB9F-9A92-631C-31B7-148B1E34C0E9}"/>
              </a:ext>
            </a:extLst>
          </p:cNvPr>
          <p:cNvSpPr txBox="1">
            <a:spLocks/>
          </p:cNvSpPr>
          <p:nvPr/>
        </p:nvSpPr>
        <p:spPr>
          <a:xfrm>
            <a:off x="5205743" y="2994475"/>
            <a:ext cx="4471609" cy="627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Weight matrix: 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589F3E8-2D27-055E-E67F-569675C1D8A0}"/>
              </a:ext>
            </a:extLst>
          </p:cNvPr>
          <p:cNvSpPr txBox="1">
            <a:spLocks/>
          </p:cNvSpPr>
          <p:nvPr/>
        </p:nvSpPr>
        <p:spPr>
          <a:xfrm>
            <a:off x="5205742" y="4160606"/>
            <a:ext cx="4471609" cy="627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Gradient:</a:t>
            </a:r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3E2790F-1A5C-A3C4-FED6-E12FC5EE8F65}"/>
              </a:ext>
            </a:extLst>
          </p:cNvPr>
          <p:cNvSpPr txBox="1">
            <a:spLocks/>
          </p:cNvSpPr>
          <p:nvPr/>
        </p:nvSpPr>
        <p:spPr>
          <a:xfrm>
            <a:off x="5205741" y="5229245"/>
            <a:ext cx="4471609" cy="627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Boundary: (set of terminal points)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0250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/>
      <p:bldP spid="4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E4574-87B0-B2C4-2D6D-6927F6DD2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F263A-8147-D1DA-9F91-EB3ED049C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Mathematical background 2:</a:t>
            </a:r>
            <a:br>
              <a:rPr lang="en-US" altLang="zh-CN" sz="3200" dirty="0"/>
            </a:br>
            <a:r>
              <a:rPr lang="en-US" altLang="zh-CN" sz="3200" dirty="0"/>
              <a:t>Dijkstra’s algorithm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73AA71-32FD-6437-4A81-152025D50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4471609" cy="627743"/>
          </a:xfrm>
        </p:spPr>
        <p:txBody>
          <a:bodyPr>
            <a:normAutofit/>
          </a:bodyPr>
          <a:lstStyle/>
          <a:p>
            <a:r>
              <a:rPr lang="en-US" altLang="zh-CN" dirty="0"/>
              <a:t>Graph distance between </a:t>
            </a:r>
            <a:r>
              <a:rPr lang="en-US" altLang="zh-CN" dirty="0" err="1"/>
              <a:t>x_i</a:t>
            </a:r>
            <a:r>
              <a:rPr lang="en-US" altLang="zh-CN" dirty="0"/>
              <a:t> and </a:t>
            </a:r>
            <a:r>
              <a:rPr lang="en-US" altLang="zh-CN" dirty="0" err="1"/>
              <a:t>x_j</a:t>
            </a:r>
            <a:r>
              <a:rPr lang="en-US" altLang="zh-CN" dirty="0"/>
              <a:t>: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ECB4E4-60C9-3606-BBF2-9853DFD7B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698012"/>
            <a:ext cx="5053824" cy="2343350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FA40E5D-29EE-A049-E397-EE48FAEB31C8}"/>
              </a:ext>
            </a:extLst>
          </p:cNvPr>
          <p:cNvSpPr txBox="1">
            <a:spLocks/>
          </p:cNvSpPr>
          <p:nvPr/>
        </p:nvSpPr>
        <p:spPr>
          <a:xfrm>
            <a:off x="6095999" y="1641637"/>
            <a:ext cx="4471609" cy="6277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The Bellman relation</a:t>
            </a:r>
            <a:r>
              <a:rPr lang="zh-CN" altLang="en-US" dirty="0"/>
              <a:t> </a:t>
            </a:r>
            <a:r>
              <a:rPr lang="en-US" altLang="zh-CN" dirty="0"/>
              <a:t>(u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distance to the terminal vertex)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42CEAE5-F78E-19E1-8C7D-619A17D9F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604" y="2237084"/>
            <a:ext cx="3000794" cy="676369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9B508424-DAF5-A0FA-B1F6-0D4FDDA9432A}"/>
              </a:ext>
            </a:extLst>
          </p:cNvPr>
          <p:cNvSpPr txBox="1">
            <a:spLocks/>
          </p:cNvSpPr>
          <p:nvPr/>
        </p:nvSpPr>
        <p:spPr>
          <a:xfrm>
            <a:off x="6096000" y="3614330"/>
            <a:ext cx="4471609" cy="627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The Bellman relation</a:t>
            </a:r>
            <a:r>
              <a:rPr lang="zh-CN" altLang="en-US" dirty="0"/>
              <a:t> </a:t>
            </a:r>
            <a:r>
              <a:rPr lang="en-US" altLang="zh-CN" dirty="0"/>
              <a:t>(rewritten)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274BC39-1E8A-4E0C-3A20-BE890DD03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158" y="4282485"/>
            <a:ext cx="5837652" cy="13563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67B5A8F-1598-7A89-9C4C-DA58F0F7C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853853"/>
            <a:ext cx="2794754" cy="7604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C9690B-08DF-45C2-C3C6-747A6D2BB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11" y="2467274"/>
            <a:ext cx="5858693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63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95357-C57C-5E3B-EA6F-8BEE66FF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3ACA0-0836-3506-630C-D4598DF6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Mathematical background 3:</a:t>
            </a:r>
            <a:br>
              <a:rPr lang="en-US" altLang="zh-CN" sz="3200" dirty="0"/>
            </a:br>
            <a:r>
              <a:rPr lang="en-US" altLang="zh-CN" sz="3200" dirty="0"/>
              <a:t>Graph p-</a:t>
            </a:r>
            <a:r>
              <a:rPr lang="en-US" altLang="zh-CN" sz="3200" dirty="0" err="1"/>
              <a:t>eikonal</a:t>
            </a:r>
            <a:r>
              <a:rPr lang="en-US" altLang="zh-CN" sz="3200" dirty="0"/>
              <a:t> method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7990D0-AC71-A813-31BE-0D979E04A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39006"/>
            <a:ext cx="2566609" cy="408440"/>
          </a:xfrm>
        </p:spPr>
        <p:txBody>
          <a:bodyPr/>
          <a:lstStyle/>
          <a:p>
            <a:r>
              <a:rPr lang="en-US" altLang="zh-CN" dirty="0"/>
              <a:t>Upwind neighbors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01616A-9B7E-0FCC-C88F-D12F5EB6B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75" y="2986500"/>
            <a:ext cx="2638793" cy="657317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BBF0A98-696D-D7DA-A6BF-FB2A36FE5379}"/>
              </a:ext>
            </a:extLst>
          </p:cNvPr>
          <p:cNvSpPr txBox="1">
            <a:spLocks/>
          </p:cNvSpPr>
          <p:nvPr/>
        </p:nvSpPr>
        <p:spPr>
          <a:xfrm>
            <a:off x="677334" y="3844904"/>
            <a:ext cx="2566609" cy="40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p-</a:t>
            </a:r>
            <a:r>
              <a:rPr lang="en-US" altLang="zh-CN" dirty="0" err="1"/>
              <a:t>eikonal</a:t>
            </a:r>
            <a:r>
              <a:rPr lang="en-US" altLang="zh-CN" dirty="0"/>
              <a:t> operator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A6516C8-F35C-6CC6-4570-71ED41E58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75" y="4511589"/>
            <a:ext cx="4734586" cy="6001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6CF6B32-57B7-4A80-CCE8-60738E8DCA6A}"/>
              </a:ext>
            </a:extLst>
          </p:cNvPr>
          <p:cNvPicPr>
            <a:picLocks/>
          </p:cNvPicPr>
          <p:nvPr/>
        </p:nvPicPr>
        <p:blipFill>
          <a:blip r:embed="rId5"/>
          <a:srcRect r="25998" b="5464"/>
          <a:stretch>
            <a:fillRect/>
          </a:stretch>
        </p:blipFill>
        <p:spPr>
          <a:xfrm>
            <a:off x="6279786" y="3111477"/>
            <a:ext cx="5336545" cy="1251802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36937B58-F83C-339F-39B1-0FE3A3A43267}"/>
              </a:ext>
            </a:extLst>
          </p:cNvPr>
          <p:cNvSpPr txBox="1">
            <a:spLocks/>
          </p:cNvSpPr>
          <p:nvPr/>
        </p:nvSpPr>
        <p:spPr>
          <a:xfrm>
            <a:off x="6197665" y="2730660"/>
            <a:ext cx="3916438" cy="40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Graph p-</a:t>
            </a:r>
            <a:r>
              <a:rPr lang="en-US" altLang="zh-CN" dirty="0" err="1"/>
              <a:t>eikonal</a:t>
            </a:r>
            <a:r>
              <a:rPr lang="en-US" altLang="zh-CN" dirty="0"/>
              <a:t> equation</a:t>
            </a:r>
            <a:endParaRPr lang="zh-CN" altLang="en-US" dirty="0"/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DC8578E-8E6E-7F96-96BA-C1B70FBBB231}"/>
              </a:ext>
            </a:extLst>
          </p:cNvPr>
          <p:cNvSpPr txBox="1">
            <a:spLocks/>
          </p:cNvSpPr>
          <p:nvPr/>
        </p:nvSpPr>
        <p:spPr>
          <a:xfrm>
            <a:off x="677334" y="1996990"/>
            <a:ext cx="5693649" cy="475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Goal: mitigate over reliance on a single neighbor</a:t>
            </a:r>
            <a:endParaRPr lang="zh-CN" altLang="en-US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BB3BF6A4-BE2C-1AFC-A5AC-18D364CBAD49}"/>
              </a:ext>
            </a:extLst>
          </p:cNvPr>
          <p:cNvSpPr txBox="1">
            <a:spLocks/>
          </p:cNvSpPr>
          <p:nvPr/>
        </p:nvSpPr>
        <p:spPr>
          <a:xfrm>
            <a:off x="706703" y="5478770"/>
            <a:ext cx="6280505" cy="40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p=1: most robust; p       infinity: Bellman relation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A7FD8FB-769E-25EF-EC09-C0428A761C8C}"/>
              </a:ext>
            </a:extLst>
          </p:cNvPr>
          <p:cNvCxnSpPr>
            <a:cxnSpLocks/>
          </p:cNvCxnSpPr>
          <p:nvPr/>
        </p:nvCxnSpPr>
        <p:spPr>
          <a:xfrm flipV="1">
            <a:off x="3243943" y="5682990"/>
            <a:ext cx="280215" cy="11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005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11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9BA6-08DC-2F6D-D53A-096CC8B3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4084A-3CA6-B65F-D083-AC4B33B4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Mathematical background 4:</a:t>
            </a:r>
            <a:br>
              <a:rPr lang="en-US" altLang="zh-CN" sz="3200" dirty="0"/>
            </a:br>
            <a:r>
              <a:rPr lang="en-US" altLang="zh-CN" sz="3200" dirty="0"/>
              <a:t>Properties of the p-</a:t>
            </a:r>
            <a:r>
              <a:rPr lang="en-US" altLang="zh-CN" sz="3200" dirty="0" err="1"/>
              <a:t>eikonal</a:t>
            </a:r>
            <a:r>
              <a:rPr lang="en-US" altLang="zh-CN" sz="3200" dirty="0"/>
              <a:t> equation</a:t>
            </a:r>
            <a:endParaRPr lang="zh-CN" altLang="en-US" sz="3200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80E88E0C-54D0-7063-9E76-7488C5E46CD8}"/>
              </a:ext>
            </a:extLst>
          </p:cNvPr>
          <p:cNvSpPr txBox="1">
            <a:spLocks/>
          </p:cNvSpPr>
          <p:nvPr/>
        </p:nvSpPr>
        <p:spPr>
          <a:xfrm>
            <a:off x="677334" y="2150281"/>
            <a:ext cx="4376057" cy="1143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(Existence and Uniqueness): p&gt;0, f&gt;0, then the p-</a:t>
            </a:r>
            <a:r>
              <a:rPr lang="en-US" altLang="zh-CN" dirty="0" err="1"/>
              <a:t>eikonal</a:t>
            </a:r>
            <a:r>
              <a:rPr lang="en-US" altLang="zh-CN" dirty="0"/>
              <a:t> equation admits a</a:t>
            </a:r>
          </a:p>
          <a:p>
            <a:pPr marL="0" indent="0">
              <a:buNone/>
            </a:pPr>
            <a:r>
              <a:rPr lang="en-US" altLang="zh-CN" dirty="0"/>
              <a:t>	a unique solution u.</a:t>
            </a:r>
            <a:endParaRPr lang="zh-CN" altLang="en-US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B03A7324-9856-B465-B025-AF164E51F093}"/>
              </a:ext>
            </a:extLst>
          </p:cNvPr>
          <p:cNvSpPr txBox="1">
            <a:spLocks/>
          </p:cNvSpPr>
          <p:nvPr/>
        </p:nvSpPr>
        <p:spPr>
          <a:xfrm>
            <a:off x="592140" y="3500728"/>
            <a:ext cx="4546443" cy="1385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(Comparability with distance): Let K be the number of edges. Then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16C4EB4-F1A7-7C44-FB75-0D2D5D10F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3" y="4332380"/>
            <a:ext cx="5760947" cy="570094"/>
          </a:xfrm>
          <a:prstGeom prst="rect">
            <a:avLst/>
          </a:prstGeom>
        </p:spPr>
      </p:pic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04CE25AD-411E-094B-AFDE-A55E1CFD11FE}"/>
              </a:ext>
            </a:extLst>
          </p:cNvPr>
          <p:cNvSpPr txBox="1">
            <a:spLocks/>
          </p:cNvSpPr>
          <p:nvPr/>
        </p:nvSpPr>
        <p:spPr>
          <a:xfrm>
            <a:off x="6006880" y="2293008"/>
            <a:ext cx="4939659" cy="422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(Robustness related to nonnegative noise):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FAF533B-FA20-9752-89B8-F12895D96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880" y="3189575"/>
            <a:ext cx="5965827" cy="228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096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CE8E-ABB0-4C1B-90AA-92D8A7CF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0E6D5-D144-0546-3A07-997A25CC8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937183" cy="13208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Experiment settings 1:</a:t>
            </a:r>
            <a:br>
              <a:rPr lang="en-US" altLang="zh-CN" sz="3200" dirty="0"/>
            </a:br>
            <a:r>
              <a:rPr lang="en-US" altLang="zh-CN" sz="3200" dirty="0"/>
              <a:t>Datasets selection and graph construction</a:t>
            </a:r>
            <a:endParaRPr lang="zh-CN" altLang="en-US" sz="32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A977474-8889-1863-0FB5-E97F451C5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9" y="2411810"/>
            <a:ext cx="3539916" cy="28319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91C7A1-23C5-FEEA-082E-4A775709E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783" y="2399520"/>
            <a:ext cx="3539916" cy="28319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C60342-D645-A47E-186C-6089CD07A4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887" y="2399519"/>
            <a:ext cx="3539917" cy="283193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2B28031-43D0-9F26-B3EB-9B4FB679DDD3}"/>
              </a:ext>
            </a:extLst>
          </p:cNvPr>
          <p:cNvSpPr txBox="1"/>
          <p:nvPr/>
        </p:nvSpPr>
        <p:spPr>
          <a:xfrm>
            <a:off x="338499" y="5325070"/>
            <a:ext cx="36446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Structure: Non-convex manifold</a:t>
            </a:r>
          </a:p>
          <a:p>
            <a:r>
              <a:rPr lang="en-US" altLang="zh-CN" dirty="0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Purpose: Tests whether paths follow manifold geometry</a:t>
            </a:r>
            <a:endParaRPr lang="zh-CN" altLang="en-US" dirty="0">
              <a:solidFill>
                <a:srgbClr val="262626">
                  <a:lumMod val="75000"/>
                  <a:lumOff val="2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6979A7-65A0-FC4B-A3A4-9F32D1D02008}"/>
              </a:ext>
            </a:extLst>
          </p:cNvPr>
          <p:cNvSpPr txBox="1"/>
          <p:nvPr/>
        </p:nvSpPr>
        <p:spPr>
          <a:xfrm>
            <a:off x="3983119" y="5243743"/>
            <a:ext cx="36677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Structure: Grid graph with obstacles </a:t>
            </a:r>
          </a:p>
          <a:p>
            <a:r>
              <a:rPr lang="en-US" altLang="zh-CN" dirty="0">
                <a:solidFill>
                  <a:srgbClr val="262626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Purpose: Tests obstacle avoidance and constrained propagation</a:t>
            </a:r>
            <a:endParaRPr lang="zh-CN" altLang="en-US" dirty="0">
              <a:solidFill>
                <a:srgbClr val="262626">
                  <a:lumMod val="75000"/>
                  <a:lumOff val="2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0BCCCE-62AE-6125-41AF-307F8BEF3F62}"/>
              </a:ext>
            </a:extLst>
          </p:cNvPr>
          <p:cNvSpPr txBox="1"/>
          <p:nvPr/>
        </p:nvSpPr>
        <p:spPr>
          <a:xfrm>
            <a:off x="7627739" y="5325069"/>
            <a:ext cx="4225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Structure: Clustered data with nonuniform density </a:t>
            </a:r>
          </a:p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Purpose: Test propagation across sparse regions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2690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FAAF-908A-359B-F216-DA87459B4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2A003-08B5-DF16-8149-A197B97C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Experiment settings 2:</a:t>
            </a:r>
            <a:br>
              <a:rPr lang="en-US" altLang="zh-CN" sz="3200" dirty="0"/>
            </a:br>
            <a:r>
              <a:rPr lang="en-US" altLang="zh-CN" sz="3200" dirty="0"/>
              <a:t>Fidelity metric</a:t>
            </a:r>
            <a:endParaRPr lang="zh-CN" altLang="en-US" sz="32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497C27D-715C-6A03-91E5-77CBE89D3AC6}"/>
              </a:ext>
            </a:extLst>
          </p:cNvPr>
          <p:cNvSpPr txBox="1">
            <a:spLocks/>
          </p:cNvSpPr>
          <p:nvPr/>
        </p:nvSpPr>
        <p:spPr>
          <a:xfrm>
            <a:off x="677334" y="2150281"/>
            <a:ext cx="5202605" cy="963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Purpose: To measure a solution path’s agreement with the Dijkstra’s algorithm’s solution path in terms of cost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69EE00-A2A3-4313-9FF9-8A8C09CD9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61" y="388224"/>
            <a:ext cx="5413093" cy="3866495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08FE21C-7B0B-907F-1CFD-957CAD1C9544}"/>
              </a:ext>
            </a:extLst>
          </p:cNvPr>
          <p:cNvSpPr txBox="1">
            <a:spLocks/>
          </p:cNvSpPr>
          <p:nvPr/>
        </p:nvSpPr>
        <p:spPr>
          <a:xfrm>
            <a:off x="677332" y="3333471"/>
            <a:ext cx="5202605" cy="963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Fidelity loss:</a:t>
            </a:r>
            <a:endParaRPr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9DDF306-B660-3787-19C3-33F3965C737C}"/>
              </a:ext>
            </a:extLst>
          </p:cNvPr>
          <p:cNvSpPr txBox="1">
            <a:spLocks/>
          </p:cNvSpPr>
          <p:nvPr/>
        </p:nvSpPr>
        <p:spPr>
          <a:xfrm>
            <a:off x="677332" y="5204046"/>
            <a:ext cx="5202605" cy="963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Fidelity loss: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9897D72-E128-22B7-B390-260A0E84A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96" y="4263903"/>
            <a:ext cx="3543795" cy="9145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266D245-B291-D80D-2EFB-5C75FD585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79" y="3605811"/>
            <a:ext cx="2562583" cy="87642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B21D2B3-925D-CEFC-142F-A75DC831C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839" y="5691838"/>
            <a:ext cx="3296110" cy="8573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A22C08-F4A6-BB52-07EA-E9758F4CDB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4619" y="4899719"/>
                <a:ext cx="4729303" cy="18621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buClr>
                    <a:srgbClr val="6667AB"/>
                  </a:buClr>
                </a:pPr>
                <a:r>
                  <a:rPr lang="en-US" altLang="zh-CN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Trebuchet MS" panose="020B0603020202020204"/>
                    <a:ea typeface="华文新魏" panose="02010800040101010101" pitchFamily="2" charset="-122"/>
                  </a:rPr>
                  <a:t>Interpretation:                                           </a:t>
                </a:r>
                <a:r>
                  <a:rPr lang="en-US" altLang="zh-CN" dirty="0"/>
                  <a:t>Smaller cost loss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 closer to clean Dijkstra reference                         Higher fidelity score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dirty="0"/>
                  <a:t> better fidelity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Trebuchet MS" panose="020B0603020202020204"/>
                  <a:ea typeface="华文新魏" panose="020108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A22C08-F4A6-BB52-07EA-E9758F4CD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619" y="4899719"/>
                <a:ext cx="4729303" cy="1862196"/>
              </a:xfrm>
              <a:prstGeom prst="rect">
                <a:avLst/>
              </a:prstGeom>
              <a:blipFill>
                <a:blip r:embed="rId7"/>
                <a:stretch>
                  <a:fillRect l="-387" t="-2295" r="-6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4057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0134-6EAD-177B-665C-07782886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377B5B-783A-A06D-1E4D-0B169B368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9994524" cy="155099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Experiment settings 3:</a:t>
            </a:r>
            <a:br>
              <a:rPr lang="en-US" altLang="zh-CN" sz="3200" dirty="0"/>
            </a:br>
            <a:r>
              <a:rPr lang="en-US" altLang="zh-CN" sz="3200" dirty="0"/>
              <a:t>Path similarity metric: Discrete </a:t>
            </a:r>
            <a:r>
              <a:rPr lang="en-US" altLang="zh-CN" sz="3200" dirty="0" err="1"/>
              <a:t>Frechet</a:t>
            </a:r>
            <a:r>
              <a:rPr lang="en-US" altLang="zh-CN" sz="3200" dirty="0"/>
              <a:t> Distance</a:t>
            </a:r>
            <a:endParaRPr lang="zh-CN" altLang="en-US" sz="3200" dirty="0"/>
          </a:p>
        </p:txBody>
      </p:sp>
      <p:pic>
        <p:nvPicPr>
          <p:cNvPr id="4" name="图片 3" descr="Shape Matching in Javascript | chanind.github.io">
            <a:extLst>
              <a:ext uri="{FF2B5EF4-FFF2-40B4-BE49-F238E27FC236}">
                <a16:creationId xmlns:a16="http://schemas.microsoft.com/office/drawing/2014/main" id="{CCC60D57-339C-391D-8D81-D66FAA3B3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846" y="1771195"/>
            <a:ext cx="3431776" cy="24512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9B9C558-8DF4-BA75-DADD-C8A8A9ED6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47" y="4447099"/>
            <a:ext cx="5345696" cy="2228447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8264851-DEF3-06B3-D9AA-31C718AD603A}"/>
              </a:ext>
            </a:extLst>
          </p:cNvPr>
          <p:cNvSpPr txBox="1">
            <a:spLocks/>
          </p:cNvSpPr>
          <p:nvPr/>
        </p:nvSpPr>
        <p:spPr>
          <a:xfrm>
            <a:off x="471989" y="3034937"/>
            <a:ext cx="6098958" cy="2824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 forward-only matching: For two paths P=(u1,u2…,up) and Q=(v1,v2,…</a:t>
            </a:r>
            <a:r>
              <a:rPr lang="en-US" altLang="zh-CN" dirty="0" err="1"/>
              <a:t>vq</a:t>
            </a:r>
            <a:r>
              <a:rPr lang="en-US" altLang="zh-CN" dirty="0"/>
              <a:t>), a forward-only matching is a sequence of matched pairs that satisfies: 1.starts at (u1,v1) and ends at (</a:t>
            </a:r>
            <a:r>
              <a:rPr lang="en-US" altLang="zh-CN" dirty="0" err="1"/>
              <a:t>up,vq</a:t>
            </a:r>
            <a:r>
              <a:rPr lang="en-US" altLang="zh-CN" dirty="0"/>
              <a:t>); 2.at each step, one may move forward along a path or along both paths simultaneously. Backward movement is not allowed</a:t>
            </a:r>
          </a:p>
          <a:p>
            <a:endParaRPr lang="en-US" altLang="zh-CN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B54285EF-705D-CED6-7FA0-117EA1E8C380}"/>
              </a:ext>
            </a:extLst>
          </p:cNvPr>
          <p:cNvSpPr txBox="1">
            <a:spLocks/>
          </p:cNvSpPr>
          <p:nvPr/>
        </p:nvSpPr>
        <p:spPr>
          <a:xfrm>
            <a:off x="471988" y="1702461"/>
            <a:ext cx="6568003" cy="2130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Purpose: To measure similarity between two ordered path. Given two fixed paths, what is the shortest leash length that allows a person and a dog to traverse their paths without moving backward?</a:t>
            </a:r>
            <a:endParaRPr lang="zh-CN" altLang="en-US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AD899143-5D74-E086-05CF-99B8D9342EFC}"/>
              </a:ext>
            </a:extLst>
          </p:cNvPr>
          <p:cNvSpPr txBox="1">
            <a:spLocks/>
          </p:cNvSpPr>
          <p:nvPr/>
        </p:nvSpPr>
        <p:spPr>
          <a:xfrm>
            <a:off x="480106" y="5047224"/>
            <a:ext cx="6231411" cy="1628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Among all forward-only matchings between the two paths, we want to find the matching with the minimal maximum distance between matched pairs.</a:t>
            </a:r>
          </a:p>
        </p:txBody>
      </p:sp>
    </p:spTree>
    <p:extLst>
      <p:ext uri="{BB962C8B-B14F-4D97-AF65-F5344CB8AC3E}">
        <p14:creationId xmlns:p14="http://schemas.microsoft.com/office/powerpoint/2010/main" val="3745241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CE15F-3F91-4F8B-FEC1-C83D2465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2433C-4DF1-400A-12DE-5790EB41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Experiment settings 4:</a:t>
            </a:r>
            <a:br>
              <a:rPr lang="en-US" altLang="zh-CN" sz="3200" dirty="0"/>
            </a:br>
            <a:r>
              <a:rPr lang="en-US" altLang="zh-CN" sz="3200" dirty="0"/>
              <a:t>Robustness metric</a:t>
            </a:r>
            <a:endParaRPr lang="zh-CN" altLang="en-US" sz="32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B443ACC-ABA3-C3AF-3C91-9616B9E0BC3A}"/>
              </a:ext>
            </a:extLst>
          </p:cNvPr>
          <p:cNvSpPr txBox="1">
            <a:spLocks/>
          </p:cNvSpPr>
          <p:nvPr/>
        </p:nvSpPr>
        <p:spPr>
          <a:xfrm>
            <a:off x="677333" y="2044909"/>
            <a:ext cx="5413093" cy="9491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7AB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Purpose: To measure a method’s solution path stability under weighted noise compared with their clear reference solution path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rebuchet MS" panose="020B0603020202020204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045B5CB-EA8A-973B-3F89-778A3DD09E1E}"/>
              </a:ext>
            </a:extLst>
          </p:cNvPr>
          <p:cNvSpPr txBox="1">
            <a:spLocks/>
          </p:cNvSpPr>
          <p:nvPr/>
        </p:nvSpPr>
        <p:spPr>
          <a:xfrm>
            <a:off x="677333" y="3308479"/>
            <a:ext cx="5202605" cy="384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7AB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rebuchet MS" panose="020B0603020202020204"/>
                <a:ea typeface="华文新魏" panose="02010800040101010101" pitchFamily="2" charset="-122"/>
              </a:rPr>
              <a:t>Path deviation under noise condition epsilon: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rebuchet MS" panose="020B0603020202020204"/>
              <a:ea typeface="华文新魏" panose="0201080004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0AFE82-B3B6-ECC1-955D-26AFBCC80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888" y="3692523"/>
            <a:ext cx="2569829" cy="864397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28D21D3-2D74-E2B0-FD27-9FE4E0DAA072}"/>
              </a:ext>
            </a:extLst>
          </p:cNvPr>
          <p:cNvSpPr txBox="1">
            <a:spLocks/>
          </p:cNvSpPr>
          <p:nvPr/>
        </p:nvSpPr>
        <p:spPr>
          <a:xfrm>
            <a:off x="677332" y="4614344"/>
            <a:ext cx="5202605" cy="384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7AB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rebuchet MS" panose="020B0603020202020204"/>
                <a:ea typeface="华文新魏" panose="02010800040101010101" pitchFamily="2" charset="-122"/>
              </a:rPr>
              <a:t>Robustness loss: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rebuchet MS" panose="020B0603020202020204"/>
              <a:ea typeface="华文新魏" panose="02010800040101010101" pitchFamily="2" charset="-122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AB01A6D-CBDE-B50D-8F40-96405E71F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50" y="5055812"/>
            <a:ext cx="4232018" cy="75893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A3EB709-B7D5-8777-247C-55FD761AC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14" y="5858383"/>
            <a:ext cx="4232019" cy="727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4E9FC4A8-2E8B-53F7-ADD1-D49BC615A1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0426" y="4927284"/>
                <a:ext cx="5707997" cy="18621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6667AB"/>
                  </a:buClr>
                  <a:buSzPct val="80000"/>
                  <a:buFont typeface="Wingdings 3" charset="2"/>
                  <a:buChar char=""/>
                  <a:tabLst/>
                  <a:defRPr/>
                </a:pPr>
                <a:r>
                  <a:rPr lang="en-US" altLang="zh-CN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Trebuchet MS" panose="020B0603020202020204"/>
                    <a:ea typeface="华文新魏" panose="02010800040101010101" pitchFamily="2" charset="-122"/>
                  </a:rPr>
                  <a:t>Interpretation:                                           </a:t>
                </a:r>
                <a:r>
                  <a:rPr lang="en-US" altLang="zh-CN" dirty="0"/>
                  <a:t>Smaller deviation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more stable path            Higher robustness score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dirty="0"/>
                  <a:t> better robustness </a:t>
                </a:r>
              </a:p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6667AB"/>
                  </a:buClr>
                  <a:buSzPct val="80000"/>
                  <a:buFont typeface="Wingdings 3" charset="2"/>
                  <a:buChar char=""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Trebuchet MS" panose="020B0603020202020204"/>
                  <a:ea typeface="华文新魏" panose="020108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4E9FC4A8-2E8B-53F7-ADD1-D49BC615A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426" y="4927284"/>
                <a:ext cx="5707997" cy="1862196"/>
              </a:xfrm>
              <a:prstGeom prst="rect">
                <a:avLst/>
              </a:prstGeom>
              <a:blipFill>
                <a:blip r:embed="rId5"/>
                <a:stretch>
                  <a:fillRect l="-214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FE3EF418-71F5-3336-0C89-5513D51F43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222" y="977460"/>
            <a:ext cx="5091636" cy="363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139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062F-DB5D-626D-9480-B11B8823C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E92CF-00AC-80F7-74ED-0425CAC46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Results and Discussion 1:</a:t>
            </a:r>
            <a:br>
              <a:rPr lang="en-US" altLang="zh-CN" sz="3200" dirty="0"/>
            </a:br>
            <a:r>
              <a:rPr lang="en-US" altLang="zh-CN" sz="3200" dirty="0"/>
              <a:t>Clean setting overview</a:t>
            </a:r>
            <a:endParaRPr lang="zh-CN" altLang="en-US" sz="32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E250421-453C-8010-F9C4-4517D33C4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4" y="1833673"/>
            <a:ext cx="854150" cy="18061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EB93A1-6394-1F9B-4F53-E4F70B713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82" y="4234649"/>
            <a:ext cx="3672691" cy="26233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5E8A383-5F98-A01F-70D4-18A8BA73E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574" y="1752414"/>
            <a:ext cx="3724310" cy="26602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B755A41-994B-264C-A6F3-1E5467B65C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249" y="4197779"/>
            <a:ext cx="3724311" cy="2660221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9C66BFEF-594F-E6BD-ED61-1DB22F52D4EE}"/>
              </a:ext>
            </a:extLst>
          </p:cNvPr>
          <p:cNvSpPr txBox="1">
            <a:spLocks/>
          </p:cNvSpPr>
          <p:nvPr/>
        </p:nvSpPr>
        <p:spPr>
          <a:xfrm>
            <a:off x="7159940" y="4196420"/>
            <a:ext cx="4109324" cy="170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7AB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rebuchet MS" panose="020B0603020202020204"/>
                <a:ea typeface="华文新魏" panose="02010800040101010101" pitchFamily="2" charset="-122"/>
              </a:rPr>
              <a:t>The effect of p depends on dataset geometry: strongest on Two Moons, moderate on Obstacle Grid, and weakest on Gaussian Mixture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A7C7A3BE-11E3-1E42-F246-EDCD8FC4DC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59940" y="2052034"/>
                <a:ext cx="4109324" cy="17032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buClr>
                    <a:srgbClr val="6667AB"/>
                  </a:buClr>
                </a:pPr>
                <a:r>
                  <a:rPr lang="en-US" altLang="zh-CN" dirty="0"/>
                  <a:t>No weighted noise is added</a:t>
                </a:r>
              </a:p>
              <a:p>
                <a:pPr lvl="0">
                  <a:buClr>
                    <a:srgbClr val="6667AB"/>
                  </a:buClr>
                </a:pPr>
                <a:r>
                  <a:rPr lang="en-US" altLang="zh-CN" dirty="0"/>
                  <a:t>Compare Dijkstra and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eikonal</a:t>
                </a:r>
                <a:r>
                  <a:rPr lang="en-US" altLang="zh-CN" dirty="0"/>
                  <a:t> paths </a:t>
                </a:r>
              </a:p>
              <a:p>
                <a:pPr lvl="0">
                  <a:buClr>
                    <a:srgbClr val="6667AB"/>
                  </a:buClr>
                </a:pPr>
                <a:r>
                  <a:rPr lang="en-US" altLang="zh-CN" dirty="0"/>
                  <a:t>Clean paths serve as references for fidelity and robustness</a:t>
                </a:r>
                <a:endParaRPr lang="en-US" altLang="zh-CN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Trebuchet MS" panose="020B0603020202020204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A7C7A3BE-11E3-1E42-F246-EDCD8FC4D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940" y="2052034"/>
                <a:ext cx="4109324" cy="1703220"/>
              </a:xfrm>
              <a:prstGeom prst="rect">
                <a:avLst/>
              </a:prstGeom>
              <a:blipFill>
                <a:blip r:embed="rId6"/>
                <a:stretch>
                  <a:fillRect l="-445" t="-3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048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CAC05-9701-7444-B1A8-32F9A4959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BA90DF-BE1A-AFF8-AD92-E8812960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Results and Discussion 2:</a:t>
            </a:r>
            <a:br>
              <a:rPr lang="en-US" altLang="zh-CN" sz="3200" dirty="0"/>
            </a:br>
            <a:r>
              <a:rPr lang="en-US" altLang="zh-CN" sz="3200" dirty="0"/>
              <a:t>Clean Fidelity</a:t>
            </a:r>
            <a:endParaRPr lang="zh-CN" altLang="en-US" sz="3200" dirty="0"/>
          </a:p>
        </p:txBody>
      </p:sp>
      <p:pic>
        <p:nvPicPr>
          <p:cNvPr id="16" name="内容占位符 15">
            <a:extLst>
              <a:ext uri="{FF2B5EF4-FFF2-40B4-BE49-F238E27FC236}">
                <a16:creationId xmlns:a16="http://schemas.microsoft.com/office/drawing/2014/main" id="{96EDFB0E-921C-579E-D122-B3A9C9B22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844" y="2021948"/>
            <a:ext cx="4109324" cy="297571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9AF8644-96D4-411E-5095-6534D0114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713" y="2021948"/>
            <a:ext cx="4109324" cy="297571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41407FF-E979-F069-F52A-25B4A540E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5" y="2021948"/>
            <a:ext cx="4109325" cy="2975718"/>
          </a:xfrm>
          <a:prstGeom prst="rect">
            <a:avLst/>
          </a:prstGeom>
        </p:spPr>
      </p:pic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D0F946A4-B2F6-C241-AB41-536BD55453CA}"/>
              </a:ext>
            </a:extLst>
          </p:cNvPr>
          <p:cNvSpPr txBox="1">
            <a:spLocks/>
          </p:cNvSpPr>
          <p:nvPr/>
        </p:nvSpPr>
        <p:spPr>
          <a:xfrm>
            <a:off x="408632" y="5384724"/>
            <a:ext cx="11391748" cy="125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6667AB"/>
              </a:buClr>
            </a:pPr>
            <a:r>
              <a:rPr lang="en-US" altLang="zh-CN" dirty="0"/>
              <a:t>Cost-based fidelity is close to 1 for many p values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Small p may show lower fidelity on some datasets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Fidelity alone is often not enough for parameter selection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2030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D73A8-9B15-9982-212D-19FE2271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D379E-54A1-18D3-8F18-F547E938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Results and Discussion 3:</a:t>
            </a:r>
            <a:br>
              <a:rPr lang="en-US" altLang="zh-CN" sz="3200" dirty="0"/>
            </a:br>
            <a:r>
              <a:rPr lang="en-US" altLang="zh-CN" sz="3200" dirty="0"/>
              <a:t>Gaussian Mixture</a:t>
            </a:r>
            <a:endParaRPr lang="zh-CN" altLang="en-US" sz="3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863097-C78E-E247-9C90-99CD1433C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12" y="1814991"/>
            <a:ext cx="2699747" cy="19283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CE82233-3425-BE82-2DB3-0E689E4F6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359" y="1738792"/>
            <a:ext cx="2803542" cy="200253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2A5629F-5524-0F25-3444-7352FC03A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15" y="3429000"/>
            <a:ext cx="2803543" cy="200253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F708059-D9B4-CD1A-115E-35D5F154B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6358" y="3237391"/>
            <a:ext cx="2803543" cy="2002531"/>
          </a:xfrm>
          <a:prstGeom prst="rect">
            <a:avLst/>
          </a:prstGeom>
        </p:spPr>
      </p:pic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9331758E-F985-C8BD-BBA9-B6D3FFADE630}"/>
              </a:ext>
            </a:extLst>
          </p:cNvPr>
          <p:cNvSpPr txBox="1">
            <a:spLocks/>
          </p:cNvSpPr>
          <p:nvPr/>
        </p:nvSpPr>
        <p:spPr>
          <a:xfrm>
            <a:off x="336612" y="5282707"/>
            <a:ext cx="5528157" cy="1109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6667AB"/>
              </a:buClr>
            </a:pPr>
            <a:r>
              <a:rPr lang="en-US" altLang="zh-CN" dirty="0"/>
              <a:t>Dijkstra shows visible path deviation under noise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p-</a:t>
            </a:r>
            <a:r>
              <a:rPr lang="en-US" altLang="zh-CN" dirty="0" err="1"/>
              <a:t>eikonal</a:t>
            </a:r>
            <a:r>
              <a:rPr lang="en-US" altLang="zh-CN" dirty="0"/>
              <a:t> paths stay closer to the clean reference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  <a:ea typeface="华文新魏" panose="02010800040101010101" pitchFamily="2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C16F5FE-65C9-D0B6-46E8-157518CB19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633" y="1814991"/>
            <a:ext cx="4938272" cy="3424931"/>
          </a:xfrm>
          <a:prstGeom prst="rect">
            <a:avLst/>
          </a:prstGeom>
        </p:spPr>
      </p:pic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47E72C31-8F3E-9A68-23B2-4126A307A0F2}"/>
              </a:ext>
            </a:extLst>
          </p:cNvPr>
          <p:cNvSpPr txBox="1">
            <a:spLocks/>
          </p:cNvSpPr>
          <p:nvPr/>
        </p:nvSpPr>
        <p:spPr>
          <a:xfrm>
            <a:off x="6289633" y="5431531"/>
            <a:ext cx="5669552" cy="14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6667AB"/>
              </a:buClr>
            </a:pPr>
            <a:r>
              <a:rPr lang="en-US" altLang="zh-CN" dirty="0"/>
              <a:t>Larger p values show higher robustness in this dataset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p-</a:t>
            </a:r>
            <a:r>
              <a:rPr lang="en-US" altLang="zh-CN" dirty="0" err="1"/>
              <a:t>eikonal</a:t>
            </a:r>
            <a:r>
              <a:rPr lang="en-US" altLang="zh-CN" dirty="0"/>
              <a:t> propagation is more stable than discrete shortest-path selection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9040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8F76B-4805-1B12-C05A-C19FF5710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1131C-8883-1834-9AD1-1C0A337ED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Results and Discussion 4:</a:t>
            </a:r>
            <a:br>
              <a:rPr lang="en-US" altLang="zh-CN" sz="3200" dirty="0"/>
            </a:br>
            <a:r>
              <a:rPr lang="en-US" altLang="zh-CN" sz="3200" dirty="0"/>
              <a:t>Obstacle grid</a:t>
            </a:r>
            <a:endParaRPr lang="zh-CN" altLang="en-US" sz="3200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A0170ED4-6EDC-1C75-F5F0-F360EFB8CCC8}"/>
              </a:ext>
            </a:extLst>
          </p:cNvPr>
          <p:cNvSpPr txBox="1">
            <a:spLocks/>
          </p:cNvSpPr>
          <p:nvPr/>
        </p:nvSpPr>
        <p:spPr>
          <a:xfrm>
            <a:off x="374211" y="5621345"/>
            <a:ext cx="5528157" cy="1109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6667AB"/>
              </a:buClr>
            </a:pPr>
            <a:r>
              <a:rPr lang="en-US" altLang="zh-CN" dirty="0"/>
              <a:t>Dijkstra shows local deviation under noise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p-</a:t>
            </a:r>
            <a:r>
              <a:rPr lang="en-US" altLang="zh-CN" dirty="0" err="1"/>
              <a:t>eikonal</a:t>
            </a:r>
            <a:r>
              <a:rPr lang="en-US" altLang="zh-CN" dirty="0"/>
              <a:t> paths almost overlap with clean reference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内容占位符 2">
                <a:extLst>
                  <a:ext uri="{FF2B5EF4-FFF2-40B4-BE49-F238E27FC236}">
                    <a16:creationId xmlns:a16="http://schemas.microsoft.com/office/drawing/2014/main" id="{89BE511A-3FE5-BCA5-C089-07D0B5CFCE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9633" y="5431531"/>
                <a:ext cx="5669552" cy="14264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buClr>
                    <a:srgbClr val="6667AB"/>
                  </a:buClr>
                </a:pPr>
                <a:r>
                  <a:rPr lang="en-US" altLang="zh-CN" dirty="0"/>
                  <a:t>Differences among p values are small</a:t>
                </a:r>
              </a:p>
              <a:p>
                <a:pPr lvl="0">
                  <a:buClr>
                    <a:srgbClr val="6667AB"/>
                  </a:buClr>
                </a:pPr>
                <a:r>
                  <a:rPr lang="en-US" altLang="zh-CN" dirty="0"/>
                  <a:t>Robustness improvement comes from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eikonal</a:t>
                </a:r>
                <a:r>
                  <a:rPr lang="en-US" altLang="zh-CN" dirty="0"/>
                  <a:t> framework, not from a single best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altLang="zh-CN" dirty="0"/>
                  <a:t>.</a:t>
                </a:r>
                <a:endParaRPr lang="en-US" altLang="zh-CN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Trebuchet MS" panose="020B0603020202020204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1" name="内容占位符 2">
                <a:extLst>
                  <a:ext uri="{FF2B5EF4-FFF2-40B4-BE49-F238E27FC236}">
                    <a16:creationId xmlns:a16="http://schemas.microsoft.com/office/drawing/2014/main" id="{89BE511A-3FE5-BCA5-C089-07D0B5CFC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633" y="5431531"/>
                <a:ext cx="5669552" cy="1426469"/>
              </a:xfrm>
              <a:prstGeom prst="rect">
                <a:avLst/>
              </a:prstGeom>
              <a:blipFill>
                <a:blip r:embed="rId3"/>
                <a:stretch>
                  <a:fillRect l="-323" t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43D03905-4658-F651-4360-BE0B9FE2A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9200"/>
            <a:ext cx="3796559" cy="19723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C19A9D5-1769-47A7-5C91-5BAD703AD5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323" y="1672151"/>
            <a:ext cx="3796555" cy="19723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6E2F098-5931-51FC-4FFC-0071CF9E4D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532141"/>
            <a:ext cx="3796558" cy="19723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A5D3E90-2A40-BACF-147B-72AC6D0F8E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323" y="3521566"/>
            <a:ext cx="3796556" cy="197234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5A5441C-C5E7-3820-B747-A7386B48D3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878" y="1672151"/>
            <a:ext cx="4439027" cy="34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58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0ADA-FCAC-1AB7-F53C-F86B5EE3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2370B-A2C2-92B2-D049-BCE95130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Results and Discussion 5:</a:t>
            </a:r>
            <a:br>
              <a:rPr lang="en-US" altLang="zh-CN" sz="3200" dirty="0"/>
            </a:br>
            <a:r>
              <a:rPr lang="en-US" altLang="zh-CN" sz="3200" dirty="0"/>
              <a:t>Two Moons</a:t>
            </a:r>
            <a:endParaRPr lang="zh-CN" altLang="en-US" sz="3200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8E4D2534-741F-8CA9-0E9D-0D9A5E68C529}"/>
              </a:ext>
            </a:extLst>
          </p:cNvPr>
          <p:cNvSpPr txBox="1">
            <a:spLocks/>
          </p:cNvSpPr>
          <p:nvPr/>
        </p:nvSpPr>
        <p:spPr>
          <a:xfrm>
            <a:off x="336426" y="5394663"/>
            <a:ext cx="5528157" cy="1109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6667AB"/>
              </a:buClr>
            </a:pPr>
            <a:r>
              <a:rPr lang="en-US" altLang="zh-CN" dirty="0"/>
              <a:t>Dijkstra shows visible path deviation under noise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P has a stronger influence on both path shape </a:t>
            </a:r>
            <a:r>
              <a:rPr lang="en-US" altLang="zh-CN"/>
              <a:t>and robustness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  <a:ea typeface="华文新魏" panose="02010800040101010101" pitchFamily="2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D829C9E5-D2BA-81AA-5F97-7E69FB66B296}"/>
              </a:ext>
            </a:extLst>
          </p:cNvPr>
          <p:cNvSpPr txBox="1">
            <a:spLocks/>
          </p:cNvSpPr>
          <p:nvPr/>
        </p:nvSpPr>
        <p:spPr>
          <a:xfrm>
            <a:off x="6289633" y="5431531"/>
            <a:ext cx="5669552" cy="14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6667AB"/>
              </a:buClr>
            </a:pPr>
            <a:r>
              <a:rPr lang="en-US" altLang="zh-CN" dirty="0"/>
              <a:t>Larger p values show higher robustness in this dataset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p-</a:t>
            </a:r>
            <a:r>
              <a:rPr lang="en-US" altLang="zh-CN" dirty="0" err="1"/>
              <a:t>eikonal</a:t>
            </a:r>
            <a:r>
              <a:rPr lang="en-US" altLang="zh-CN" dirty="0"/>
              <a:t> propagation is more stable than discrete shortest-path selection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  <a:ea typeface="华文新魏" panose="020108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CEA58F-7C53-41C1-692D-16B279D86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505" y="1930400"/>
            <a:ext cx="2616939" cy="18692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FD1BE43-48DA-F1E1-B80A-946BB84EC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08" y="3525421"/>
            <a:ext cx="2616939" cy="186924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BDF75A2-2046-392B-8D1A-033D44E0D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840" y="3434918"/>
            <a:ext cx="2844110" cy="203150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0E5135E-D8BE-6BB4-C9DC-DCE99C07F1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50" y="1930400"/>
            <a:ext cx="2616939" cy="186924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ABE90B9-0200-46EA-5A03-3DE3892F81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392" y="1869652"/>
            <a:ext cx="4836344" cy="352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370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F7BC-4ECC-97FD-322A-83D5D63A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60805-68DD-2DB2-65A0-936DEFB6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Results and Discussion 6:</a:t>
            </a:r>
            <a:br>
              <a:rPr lang="en-US" altLang="zh-CN" sz="3200" dirty="0"/>
            </a:br>
            <a:r>
              <a:rPr lang="en-US" altLang="zh-CN" sz="3200" dirty="0"/>
              <a:t>Fidelity–Robustness Trade-off</a:t>
            </a:r>
            <a:endParaRPr lang="zh-CN" altLang="en-US" sz="3200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212EAF7-5D4D-503C-1ECD-FD01FFD79896}"/>
              </a:ext>
            </a:extLst>
          </p:cNvPr>
          <p:cNvSpPr txBox="1">
            <a:spLocks/>
          </p:cNvSpPr>
          <p:nvPr/>
        </p:nvSpPr>
        <p:spPr>
          <a:xfrm>
            <a:off x="336426" y="5394663"/>
            <a:ext cx="11391748" cy="1254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6667AB"/>
              </a:buClr>
            </a:pPr>
            <a:r>
              <a:rPr lang="en-US" altLang="zh-CN" dirty="0"/>
              <a:t>No universally optimal p: Many p values perform similarly well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P has a stronger influence on both path shape and robustness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Parameter selection should focus on a stable range, not a single best value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  <a:ea typeface="华文新魏" panose="020108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293B6C-EC72-F11D-A1B6-B47F772D2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285" y="1775550"/>
            <a:ext cx="3941930" cy="31789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ED1EC3-65B6-52ED-A8D2-6F49A51C5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506" y="1748626"/>
            <a:ext cx="3941930" cy="31789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E660B25-6CDB-0DBB-214D-94390738F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64" y="1775550"/>
            <a:ext cx="3941930" cy="317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3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463F5-1C48-A54C-75AF-A6B033BF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DF099-7831-EE41-8411-8005F8E1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Results and Discussion 7:</a:t>
            </a:r>
            <a:br>
              <a:rPr lang="en-US" altLang="zh-CN" sz="3200" dirty="0"/>
            </a:br>
            <a:r>
              <a:rPr lang="en-US" altLang="zh-CN" sz="3200" dirty="0"/>
              <a:t>Test on MNIST</a:t>
            </a:r>
            <a:endParaRPr lang="zh-CN" altLang="en-US" sz="3200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405DE398-8DDC-B738-D67F-2414D57ACC0B}"/>
              </a:ext>
            </a:extLst>
          </p:cNvPr>
          <p:cNvSpPr txBox="1">
            <a:spLocks/>
          </p:cNvSpPr>
          <p:nvPr/>
        </p:nvSpPr>
        <p:spPr>
          <a:xfrm>
            <a:off x="263538" y="4683657"/>
            <a:ext cx="3987096" cy="3315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6667AB"/>
              </a:buClr>
            </a:pPr>
            <a:r>
              <a:rPr lang="en-US" altLang="zh-CN" dirty="0"/>
              <a:t>Dijkstra: significantly lower accuracy and Macro-F1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Best p: p = 2</a:t>
            </a:r>
          </a:p>
          <a:p>
            <a:pPr lvl="0">
              <a:buClr>
                <a:srgbClr val="6667AB"/>
              </a:buClr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rebuchet MS" panose="020B0603020202020204"/>
                <a:ea typeface="华文新魏" panose="02010800040101010101" pitchFamily="2" charset="-122"/>
              </a:rPr>
              <a:t>p </a:t>
            </a:r>
            <a:r>
              <a:rPr lang="en-US" altLang="zh-CN" dirty="0" err="1">
                <a:solidFill>
                  <a:srgbClr val="000000">
                    <a:lumMod val="75000"/>
                    <a:lumOff val="25000"/>
                  </a:srgbClr>
                </a:solidFill>
                <a:latin typeface="Trebuchet MS" panose="020B0603020202020204"/>
                <a:ea typeface="华文新魏" panose="02010800040101010101" pitchFamily="2" charset="-122"/>
              </a:rPr>
              <a:t>eikonal</a:t>
            </a: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rebuchet MS" panose="020B0603020202020204"/>
                <a:ea typeface="华文新魏" panose="02010800040101010101" pitchFamily="2" charset="-122"/>
              </a:rPr>
              <a:t> models perform better across all tested p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FA9D8F-49E0-D0A9-2401-9614BEDD4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110291"/>
            <a:ext cx="3482009" cy="248714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1585A41-C39C-640A-E30D-7CCF6CC6D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209" y="2110291"/>
            <a:ext cx="3482008" cy="24871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015A4DE-82DA-16E4-C938-35C54C9AF5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736" y="1930400"/>
            <a:ext cx="5671930" cy="4253948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BEE11F8C-B23F-D834-0B38-92273F9232F5}"/>
              </a:ext>
            </a:extLst>
          </p:cNvPr>
          <p:cNvSpPr txBox="1">
            <a:spLocks/>
          </p:cNvSpPr>
          <p:nvPr/>
        </p:nvSpPr>
        <p:spPr>
          <a:xfrm>
            <a:off x="263538" y="2649213"/>
            <a:ext cx="6271623" cy="3715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6667AB"/>
              </a:buClr>
            </a:pPr>
            <a:r>
              <a:rPr lang="en-US" altLang="zh-CN" dirty="0"/>
              <a:t>The confusion matrix shows that most digits are correctly classified along the diagonal.</a:t>
            </a:r>
          </a:p>
          <a:p>
            <a:pPr lvl="0">
              <a:buClr>
                <a:srgbClr val="6667AB"/>
              </a:buClr>
            </a:pPr>
            <a:r>
              <a:rPr lang="en-US" altLang="zh-CN" dirty="0"/>
              <a:t>The main errors occur between visually similar digits, such as 4 and 9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223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1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1A195-2802-413E-4993-586947574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94521" y="-616226"/>
            <a:ext cx="12344400" cy="5983357"/>
          </a:xfrm>
        </p:spPr>
        <p:txBody>
          <a:bodyPr/>
          <a:lstStyle/>
          <a:p>
            <a:pPr algn="ctr"/>
            <a:r>
              <a:rPr lang="en-US" altLang="zh-CN" dirty="0"/>
              <a:t>Thank you for your attention!</a:t>
            </a:r>
            <a:br>
              <a:rPr lang="en-US" altLang="zh-CN" dirty="0"/>
            </a:br>
            <a:r>
              <a:rPr lang="en-US" altLang="zh-CN" dirty="0"/>
              <a:t> Questions and Suggestions Are Welcome.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332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。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。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。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811"/>
  <p:tag name="OP_SCP_COMPONENT_INFO" val="{&quot;title&quot;:&quot;简约蓝色圆角3项列表&quot;,&quot;description&quot;:&quot;3项,列表,蓝色&quot;,&quot;keywords&quot;:[&quot;3项&quot;,&quot;列表&quot;,&quot;蓝色&quot;],&quot;labels&quot;:[]}"/>
  <p:tag name="OP_SCP_GROUP_ID" val="4ec3abdb-d431-5f2c-645a-545ff3419325"/>
  <p:tag name="OP_SCP_ITEM_COUNT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。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739"/>
  <p:tag name="OP_SCP_COMPONENT_INFO" val="{&quot;title&quot;:&quot;紫色渐变3项金字塔棱锥PPT组件&quot;,&quot;description&quot;:&quot;紫色渐变3项金字塔棱锥PPT组件&quot;,&quot;keywords&quot;:[&quot;紫色&quot;,&quot;渐变&quot;,&quot;3项&quot;,&quot;金字塔&quot;,&quot;棱锥&quot;,&quot;PPT组件&quot;],&quot;labels&quot;:[]}"/>
  <p:tag name="OP_SCP_GROUP_ID" val="f90ecf8d-4188-986d-840c-4fa929ed77a0"/>
  <p:tag name="OP_SCP_ITEM_COUNT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，单击此处添加文本。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heme/theme1.xml><?xml version="1.0" encoding="utf-8"?>
<a:theme xmlns:a="http://schemas.openxmlformats.org/drawingml/2006/main" name="平面">
  <a:themeElements>
    <a:clrScheme name="平面">
      <a:dk1>
        <a:srgbClr val="000000"/>
      </a:dk1>
      <a:lt1>
        <a:srgbClr val="FFFFFF"/>
      </a:lt1>
      <a:dk2>
        <a:srgbClr val="0E2841"/>
      </a:dk2>
      <a:lt2>
        <a:srgbClr val="FFFFFF"/>
      </a:lt2>
      <a:accent1>
        <a:srgbClr val="6667AB"/>
      </a:accent1>
      <a:accent2>
        <a:srgbClr val="F18AAD"/>
      </a:accent2>
      <a:accent3>
        <a:srgbClr val="EA6759"/>
      </a:accent3>
      <a:accent4>
        <a:srgbClr val="F88F58"/>
      </a:accent4>
      <a:accent5>
        <a:srgbClr val="F3C65F"/>
      </a:accent5>
      <a:accent6>
        <a:srgbClr val="8BC28C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597</TotalTime>
  <Words>1073</Words>
  <Application>Microsoft Office PowerPoint</Application>
  <PresentationFormat>宽屏</PresentationFormat>
  <Paragraphs>129</Paragraphs>
  <Slides>20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等线</vt:lpstr>
      <vt:lpstr>Microsoft YaHei</vt:lpstr>
      <vt:lpstr>Arial</vt:lpstr>
      <vt:lpstr>Cambria Math</vt:lpstr>
      <vt:lpstr>Trebuchet MS</vt:lpstr>
      <vt:lpstr>Wingdings 3</vt:lpstr>
      <vt:lpstr>平面</vt:lpstr>
      <vt:lpstr>A comparative Study of Dijkstra’s Algorithm and the Graph p-eikonal Method</vt:lpstr>
      <vt:lpstr>My research</vt:lpstr>
      <vt:lpstr>Motivation: Path behavior under noise settings</vt:lpstr>
      <vt:lpstr>Goal: Path behavior comparison among Dijkstra’s algorithm, and different p-eikonal</vt:lpstr>
      <vt:lpstr>Mathematical background 1: Definitions of graph</vt:lpstr>
      <vt:lpstr>Mathematical background 2: Dijkstra’s algorithm</vt:lpstr>
      <vt:lpstr>Mathematical background 3: Graph p-eikonal method</vt:lpstr>
      <vt:lpstr>Mathematical background 4: Properties of the p-eikonal equation</vt:lpstr>
      <vt:lpstr>Experiment settings 1: Datasets selection and graph construction</vt:lpstr>
      <vt:lpstr>Experiment settings 2: Fidelity metric</vt:lpstr>
      <vt:lpstr>Experiment settings 3: Path similarity metric: Discrete Frechet Distance</vt:lpstr>
      <vt:lpstr>Experiment settings 4: Robustness metric</vt:lpstr>
      <vt:lpstr>Results and Discussion 1: Clean setting overview</vt:lpstr>
      <vt:lpstr>Results and Discussion 2: Clean Fidelity</vt:lpstr>
      <vt:lpstr>Results and Discussion 3: Gaussian Mixture</vt:lpstr>
      <vt:lpstr>Results and Discussion 4: Obstacle grid</vt:lpstr>
      <vt:lpstr>Results and Discussion 5: Two Moons</vt:lpstr>
      <vt:lpstr>Results and Discussion 6: Fidelity–Robustness Trade-off</vt:lpstr>
      <vt:lpstr>Results and Discussion 7: Test on MNIST</vt:lpstr>
      <vt:lpstr>Thank you for your attention!  Questions and Suggestions Are Welcome.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jiaqi wang</dc:creator>
  <cp:lastModifiedBy>jiaqi wang</cp:lastModifiedBy>
  <cp:revision>98</cp:revision>
  <dcterms:created xsi:type="dcterms:W3CDTF">2026-04-20T17:12:07Z</dcterms:created>
  <dcterms:modified xsi:type="dcterms:W3CDTF">2026-04-29T08:42:42Z</dcterms:modified>
</cp:coreProperties>
</file>